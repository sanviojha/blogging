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2" r:id="rId8"/>
    <p:sldId id="271" r:id="rId9"/>
    <p:sldId id="270" r:id="rId10"/>
    <p:sldId id="263" r:id="rId11"/>
    <p:sldId id="264" r:id="rId12"/>
    <p:sldId id="265" r:id="rId13"/>
    <p:sldId id="266" r:id="rId14"/>
    <p:sldId id="268" r:id="rId15"/>
    <p:sldId id="269"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1" autoAdjust="0"/>
  </p:normalViewPr>
  <p:slideViewPr>
    <p:cSldViewPr snapToGrid="0">
      <p:cViewPr varScale="1">
        <p:scale>
          <a:sx n="74" d="100"/>
          <a:sy n="74" d="100"/>
        </p:scale>
        <p:origin x="1042"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10/2/2024</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539938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10/2/2024</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1494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10/2/2024</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16006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10/2/2024</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755031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10/2/2024</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942842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10/2/2024</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083513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10/2/2024</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4143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10/2/2024</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95705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10/2/2024</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59172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10/2/2024</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75652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10/2/2024</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5937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10/2/2024</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559476134"/>
      </p:ext>
    </p:extLst>
  </p:cSld>
  <p:clrMap bg1="lt1" tx1="dk1" bg2="lt2" tx2="dk2" accent1="accent1" accent2="accent2" accent3="accent3" accent4="accent4" accent5="accent5" accent6="accent6" hlink="hlink" folHlink="folHlink"/>
  <p:sldLayoutIdLst>
    <p:sldLayoutId id="2147483698" r:id="rId1"/>
    <p:sldLayoutId id="2147483688" r:id="rId2"/>
    <p:sldLayoutId id="2147483689" r:id="rId3"/>
    <p:sldLayoutId id="2147483690" r:id="rId4"/>
    <p:sldLayoutId id="2147483691" r:id="rId5"/>
    <p:sldLayoutId id="2147483692" r:id="rId6"/>
    <p:sldLayoutId id="2147483693" r:id="rId7"/>
    <p:sldLayoutId id="2147483697" r:id="rId8"/>
    <p:sldLayoutId id="2147483694" r:id="rId9"/>
    <p:sldLayoutId id="2147483695" r:id="rId10"/>
    <p:sldLayoutId id="2147483696"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anviojharesume09.netlify.ap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ametictactoest.netlify.ap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97F7562-DBE2-4729-835D-1486BBB43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2627"/>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 name="Rectangle 19">
            <a:extLst>
              <a:ext uri="{FF2B5EF4-FFF2-40B4-BE49-F238E27FC236}">
                <a16:creationId xmlns:a16="http://schemas.microsoft.com/office/drawing/2014/main" id="{DCE0245F-7D4D-413E-940B-1D9D9A171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27"/>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2" name="Rectangle 21">
            <a:extLst>
              <a:ext uri="{FF2B5EF4-FFF2-40B4-BE49-F238E27FC236}">
                <a16:creationId xmlns:a16="http://schemas.microsoft.com/office/drawing/2014/main" id="{19B97BE4-8A98-49F3-8669-EAAF6D433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390032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4" name="Rectangle 23">
            <a:extLst>
              <a:ext uri="{FF2B5EF4-FFF2-40B4-BE49-F238E27FC236}">
                <a16:creationId xmlns:a16="http://schemas.microsoft.com/office/drawing/2014/main" id="{AA090277-9074-44AA-8A49-453BF2C45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1"/>
            <a:ext cx="12191999" cy="3909853"/>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5EE7BD-FA6A-85B9-B0F6-94D2B9780E61}"/>
              </a:ext>
            </a:extLst>
          </p:cNvPr>
          <p:cNvSpPr>
            <a:spLocks noGrp="1"/>
          </p:cNvSpPr>
          <p:nvPr>
            <p:ph type="ctrTitle"/>
          </p:nvPr>
        </p:nvSpPr>
        <p:spPr>
          <a:xfrm>
            <a:off x="7409930" y="744909"/>
            <a:ext cx="3776416" cy="2912691"/>
          </a:xfrm>
        </p:spPr>
        <p:txBody>
          <a:bodyPr anchor="b">
            <a:normAutofit/>
          </a:bodyPr>
          <a:lstStyle/>
          <a:p>
            <a:pPr algn="l"/>
            <a:r>
              <a:rPr lang="en-US" sz="3700" dirty="0"/>
              <a:t>FULL STACK DEVELOPMENT USING MERN STACK</a:t>
            </a:r>
          </a:p>
        </p:txBody>
      </p:sp>
      <p:sp>
        <p:nvSpPr>
          <p:cNvPr id="3" name="Subtitle 2">
            <a:extLst>
              <a:ext uri="{FF2B5EF4-FFF2-40B4-BE49-F238E27FC236}">
                <a16:creationId xmlns:a16="http://schemas.microsoft.com/office/drawing/2014/main" id="{A7242A4F-61C8-B8DD-39CF-E7A8CDD2B5F2}"/>
              </a:ext>
            </a:extLst>
          </p:cNvPr>
          <p:cNvSpPr>
            <a:spLocks noGrp="1"/>
          </p:cNvSpPr>
          <p:nvPr>
            <p:ph type="subTitle" idx="1"/>
          </p:nvPr>
        </p:nvSpPr>
        <p:spPr>
          <a:xfrm>
            <a:off x="7402801" y="4074784"/>
            <a:ext cx="3776415" cy="2054306"/>
          </a:xfrm>
        </p:spPr>
        <p:txBody>
          <a:bodyPr anchor="t">
            <a:normAutofit/>
          </a:bodyPr>
          <a:lstStyle/>
          <a:p>
            <a:pPr algn="l"/>
            <a:r>
              <a:rPr lang="en-US" sz="2200" b="1">
                <a:solidFill>
                  <a:schemeClr val="tx2">
                    <a:alpha val="80000"/>
                  </a:schemeClr>
                </a:solidFill>
              </a:rPr>
              <a:t>SANVI OJHA </a:t>
            </a:r>
          </a:p>
          <a:p>
            <a:pPr algn="l"/>
            <a:r>
              <a:rPr lang="en-US" sz="2200" b="1">
                <a:solidFill>
                  <a:schemeClr val="tx2">
                    <a:alpha val="80000"/>
                  </a:schemeClr>
                </a:solidFill>
              </a:rPr>
              <a:t>12212400</a:t>
            </a:r>
          </a:p>
          <a:p>
            <a:pPr algn="l"/>
            <a:r>
              <a:rPr lang="en-US" sz="2200" b="1">
                <a:solidFill>
                  <a:schemeClr val="tx2">
                    <a:alpha val="80000"/>
                  </a:schemeClr>
                </a:solidFill>
              </a:rPr>
              <a:t>B. Tech (CSE)</a:t>
            </a:r>
          </a:p>
          <a:p>
            <a:pPr algn="l"/>
            <a:r>
              <a:rPr lang="en-US" sz="2200" b="1">
                <a:solidFill>
                  <a:schemeClr val="tx2">
                    <a:alpha val="80000"/>
                  </a:schemeClr>
                </a:solidFill>
              </a:rPr>
              <a:t>Data Science</a:t>
            </a:r>
          </a:p>
          <a:p>
            <a:pPr algn="l"/>
            <a:endParaRPr lang="en-US" sz="2200" b="1">
              <a:solidFill>
                <a:schemeClr val="tx2">
                  <a:alpha val="80000"/>
                </a:schemeClr>
              </a:solidFill>
            </a:endParaRPr>
          </a:p>
        </p:txBody>
      </p:sp>
      <p:pic>
        <p:nvPicPr>
          <p:cNvPr id="4" name="Picture 3" descr="Neon 3D circle art">
            <a:extLst>
              <a:ext uri="{FF2B5EF4-FFF2-40B4-BE49-F238E27FC236}">
                <a16:creationId xmlns:a16="http://schemas.microsoft.com/office/drawing/2014/main" id="{9A3067F8-E30F-6016-4196-9EA76F15649C}"/>
              </a:ext>
            </a:extLst>
          </p:cNvPr>
          <p:cNvPicPr>
            <a:picLocks noChangeAspect="1"/>
          </p:cNvPicPr>
          <p:nvPr/>
        </p:nvPicPr>
        <p:blipFill>
          <a:blip r:embed="rId3"/>
          <a:srcRect t="21325" r="-1" b="-1"/>
          <a:stretch/>
        </p:blipFill>
        <p:spPr>
          <a:xfrm>
            <a:off x="-3048" y="1625660"/>
            <a:ext cx="7008491" cy="4968179"/>
          </a:xfrm>
          <a:prstGeom prst="rect">
            <a:avLst/>
          </a:prstGeom>
        </p:spPr>
      </p:pic>
    </p:spTree>
    <p:extLst>
      <p:ext uri="{BB962C8B-B14F-4D97-AF65-F5344CB8AC3E}">
        <p14:creationId xmlns:p14="http://schemas.microsoft.com/office/powerpoint/2010/main" val="1659167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ertificate of completion with orange and white text&#10;&#10;Description automatically generated">
            <a:extLst>
              <a:ext uri="{FF2B5EF4-FFF2-40B4-BE49-F238E27FC236}">
                <a16:creationId xmlns:a16="http://schemas.microsoft.com/office/drawing/2014/main" id="{59BCE04B-AD06-9B3C-683A-82B1A8C6C3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23173" cy="6858000"/>
          </a:xfrm>
        </p:spPr>
      </p:pic>
    </p:spTree>
    <p:extLst>
      <p:ext uri="{BB962C8B-B14F-4D97-AF65-F5344CB8AC3E}">
        <p14:creationId xmlns:p14="http://schemas.microsoft.com/office/powerpoint/2010/main" val="951313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ertificate&#10;&#10;Description automatically generated">
            <a:extLst>
              <a:ext uri="{FF2B5EF4-FFF2-40B4-BE49-F238E27FC236}">
                <a16:creationId xmlns:a16="http://schemas.microsoft.com/office/drawing/2014/main" id="{B154EC97-F700-052C-EEDB-16222DECC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11939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9DC4E-BD16-DE25-B873-7E9DF8E44F4C}"/>
              </a:ext>
            </a:extLst>
          </p:cNvPr>
          <p:cNvSpPr>
            <a:spLocks noGrp="1"/>
          </p:cNvSpPr>
          <p:nvPr>
            <p:ph type="title"/>
          </p:nvPr>
        </p:nvSpPr>
        <p:spPr>
          <a:xfrm>
            <a:off x="0" y="0"/>
            <a:ext cx="12192000" cy="1325563"/>
          </a:xfrm>
        </p:spPr>
        <p:txBody>
          <a:bodyPr>
            <a:normAutofit fontScale="90000"/>
          </a:bodyPr>
          <a:lstStyle/>
          <a:p>
            <a:r>
              <a:rPr lang="en-US" dirty="0"/>
              <a:t>Why did I choose </a:t>
            </a:r>
            <a:r>
              <a:rPr lang="en-US" dirty="0" err="1"/>
              <a:t>Mern</a:t>
            </a:r>
            <a:r>
              <a:rPr lang="en-US" dirty="0"/>
              <a:t> for Summer Training as a data science student….</a:t>
            </a:r>
          </a:p>
        </p:txBody>
      </p:sp>
      <p:sp>
        <p:nvSpPr>
          <p:cNvPr id="3" name="Content Placeholder 2">
            <a:extLst>
              <a:ext uri="{FF2B5EF4-FFF2-40B4-BE49-F238E27FC236}">
                <a16:creationId xmlns:a16="http://schemas.microsoft.com/office/drawing/2014/main" id="{CC0B5C68-0309-B409-7AF1-32C8B118A745}"/>
              </a:ext>
            </a:extLst>
          </p:cNvPr>
          <p:cNvSpPr>
            <a:spLocks noGrp="1"/>
          </p:cNvSpPr>
          <p:nvPr>
            <p:ph idx="1"/>
          </p:nvPr>
        </p:nvSpPr>
        <p:spPr>
          <a:xfrm>
            <a:off x="0" y="1325564"/>
            <a:ext cx="12192000" cy="5532436"/>
          </a:xfrm>
        </p:spPr>
        <p:txBody>
          <a:bodyPr>
            <a:normAutofit fontScale="77500" lnSpcReduction="20000"/>
          </a:bodyPr>
          <a:lstStyle/>
          <a:p>
            <a:r>
              <a:rPr lang="en-US" dirty="0"/>
              <a:t>As a data science student, I chose MERN for my summer training for a few reasons:</a:t>
            </a:r>
          </a:p>
          <a:p>
            <a:endParaRPr lang="en-US" dirty="0"/>
          </a:p>
          <a:p>
            <a:pPr>
              <a:buFont typeface="Arial" panose="020B0604020202020204" pitchFamily="34" charset="0"/>
              <a:buChar char="•"/>
            </a:pPr>
            <a:r>
              <a:rPr lang="en-US" b="1" dirty="0"/>
              <a:t>Building New Skills</a:t>
            </a:r>
            <a:r>
              <a:rPr lang="en-US" dirty="0"/>
              <a:t>: Learning </a:t>
            </a:r>
            <a:r>
              <a:rPr lang="en-US" dirty="0" err="1"/>
              <a:t>fullstack</a:t>
            </a:r>
            <a:r>
              <a:rPr lang="en-US" dirty="0"/>
              <a:t> development will help me integrate my data science projects into web applications, making them easier to use and more interactive.</a:t>
            </a:r>
          </a:p>
          <a:p>
            <a:pPr>
              <a:buFont typeface="Arial" panose="020B0604020202020204" pitchFamily="34" charset="0"/>
              <a:buChar char="•"/>
            </a:pPr>
            <a:endParaRPr lang="en-US" dirty="0"/>
          </a:p>
          <a:p>
            <a:pPr>
              <a:buFont typeface="Arial" panose="020B0604020202020204" pitchFamily="34" charset="0"/>
              <a:buChar char="•"/>
            </a:pPr>
            <a:r>
              <a:rPr lang="en-US" b="1" dirty="0"/>
              <a:t>Flexibility</a:t>
            </a:r>
            <a:r>
              <a:rPr lang="en-US" dirty="0"/>
              <a:t>: The MERN stack allows me to create scalable and dynamic apps, which can show data visually or act as platforms for machine learning models.</a:t>
            </a:r>
          </a:p>
          <a:p>
            <a:pPr>
              <a:buFont typeface="Arial" panose="020B0604020202020204" pitchFamily="34" charset="0"/>
              <a:buChar char="•"/>
            </a:pPr>
            <a:endParaRPr lang="en-US" dirty="0"/>
          </a:p>
          <a:p>
            <a:pPr>
              <a:buFont typeface="Arial" panose="020B0604020202020204" pitchFamily="34" charset="0"/>
              <a:buChar char="•"/>
            </a:pPr>
            <a:r>
              <a:rPr lang="en-US" b="1" dirty="0"/>
              <a:t>JavaScript Everywhere</a:t>
            </a:r>
            <a:r>
              <a:rPr lang="en-US" dirty="0"/>
              <a:t>: Since MERN uses JavaScript for both frontend and backend, it allows me to work smoothly across the entire project using just one language.</a:t>
            </a:r>
          </a:p>
          <a:p>
            <a:pPr>
              <a:buFont typeface="Arial" panose="020B0604020202020204" pitchFamily="34" charset="0"/>
              <a:buChar char="•"/>
            </a:pPr>
            <a:endParaRPr lang="en-US" dirty="0"/>
          </a:p>
          <a:p>
            <a:pPr>
              <a:buFont typeface="Arial" panose="020B0604020202020204" pitchFamily="34" charset="0"/>
              <a:buChar char="•"/>
            </a:pPr>
            <a:r>
              <a:rPr lang="en-US" b="1" dirty="0"/>
              <a:t>Data Science Integration</a:t>
            </a:r>
            <a:r>
              <a:rPr lang="en-US" dirty="0"/>
              <a:t>: I’m curious about how I can combine my data science projects with MERN to build user-friendly apps where people can directly interact with the data and gain insights.</a:t>
            </a:r>
          </a:p>
          <a:p>
            <a:endParaRPr lang="en-US" dirty="0"/>
          </a:p>
        </p:txBody>
      </p:sp>
    </p:spTree>
    <p:extLst>
      <p:ext uri="{BB962C8B-B14F-4D97-AF65-F5344CB8AC3E}">
        <p14:creationId xmlns:p14="http://schemas.microsoft.com/office/powerpoint/2010/main" val="281466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43" name="Rectangle 1042">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44" name="Rectangle 1043">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45" name="Rectangle 1044">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1" name="Rectangle 1040">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412E3E37-9832-3AB3-81F4-7FFB7E60B84C}"/>
              </a:ext>
            </a:extLst>
          </p:cNvPr>
          <p:cNvSpPr>
            <a:spLocks noGrp="1"/>
          </p:cNvSpPr>
          <p:nvPr>
            <p:ph type="title"/>
          </p:nvPr>
        </p:nvSpPr>
        <p:spPr>
          <a:xfrm>
            <a:off x="6553200" y="127820"/>
            <a:ext cx="4953000" cy="1268361"/>
          </a:xfrm>
        </p:spPr>
        <p:txBody>
          <a:bodyPr>
            <a:normAutofit fontScale="90000"/>
          </a:bodyPr>
          <a:lstStyle/>
          <a:p>
            <a:r>
              <a:rPr lang="en-US" b="1" u="sng" dirty="0">
                <a:solidFill>
                  <a:schemeClr val="tx2"/>
                </a:solidFill>
              </a:rPr>
              <a:t>Full Stack Development</a:t>
            </a:r>
            <a:endParaRPr lang="en-US" dirty="0">
              <a:solidFill>
                <a:schemeClr val="tx2"/>
              </a:solidFill>
            </a:endParaRPr>
          </a:p>
        </p:txBody>
      </p:sp>
      <p:pic>
        <p:nvPicPr>
          <p:cNvPr id="1026" name="Picture 2" descr="The main components of a full stack development are the front-end, back-end and database&#10;">
            <a:extLst>
              <a:ext uri="{FF2B5EF4-FFF2-40B4-BE49-F238E27FC236}">
                <a16:creationId xmlns:a16="http://schemas.microsoft.com/office/drawing/2014/main" id="{A7FA52E3-318A-7BD3-D717-3BA06552445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929" y="1714954"/>
            <a:ext cx="4191612" cy="5716862"/>
          </a:xfrm>
          <a:prstGeom prst="rect">
            <a:avLst/>
          </a:prstGeom>
          <a:noFill/>
          <a:extLst>
            <a:ext uri="{909E8E84-426E-40DD-AFC4-6F175D3DCCD1}">
              <a14:hiddenFill xmlns:a14="http://schemas.microsoft.com/office/drawing/2010/main">
                <a:solidFill>
                  <a:srgbClr val="FFFFFF"/>
                </a:solidFill>
              </a14:hiddenFill>
            </a:ext>
          </a:extLst>
        </p:spPr>
      </p:pic>
      <p:sp>
        <p:nvSpPr>
          <p:cNvPr id="1046" name="Content Placeholder 1029">
            <a:extLst>
              <a:ext uri="{FF2B5EF4-FFF2-40B4-BE49-F238E27FC236}">
                <a16:creationId xmlns:a16="http://schemas.microsoft.com/office/drawing/2014/main" id="{D889A1AB-029F-6EDA-94F9-F301215B0ECF}"/>
              </a:ext>
            </a:extLst>
          </p:cNvPr>
          <p:cNvSpPr>
            <a:spLocks noGrp="1"/>
          </p:cNvSpPr>
          <p:nvPr>
            <p:ph idx="1"/>
          </p:nvPr>
        </p:nvSpPr>
        <p:spPr>
          <a:xfrm>
            <a:off x="6248392" y="1632155"/>
            <a:ext cx="5903679" cy="4508111"/>
          </a:xfrm>
        </p:spPr>
        <p:txBody>
          <a:bodyPr>
            <a:normAutofit fontScale="85000" lnSpcReduction="20000"/>
          </a:bodyPr>
          <a:lstStyle/>
          <a:p>
            <a:pPr algn="just"/>
            <a:r>
              <a:rPr lang="en-US" b="0" i="0" dirty="0">
                <a:solidFill>
                  <a:srgbClr val="42494F"/>
                </a:solidFill>
                <a:effectLst/>
                <a:latin typeface="Times New Roman" panose="02020603050405020304" pitchFamily="18" charset="0"/>
                <a:cs typeface="Times New Roman" panose="02020603050405020304" pitchFamily="18" charset="0"/>
              </a:rPr>
              <a:t>F</a:t>
            </a:r>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ull stack development encompasses the complete process of application software development, including both </a:t>
            </a:r>
            <a:r>
              <a:rPr lang="en-US" i="0">
                <a:solidFill>
                  <a:schemeClr val="tx1">
                    <a:lumMod val="95000"/>
                    <a:lumOff val="5000"/>
                  </a:schemeClr>
                </a:solidFill>
                <a:effectLst/>
                <a:latin typeface="Times New Roman" panose="02020603050405020304" pitchFamily="18" charset="0"/>
                <a:cs typeface="Times New Roman" panose="02020603050405020304" pitchFamily="18" charset="0"/>
              </a:rPr>
              <a:t>the frontend and backend </a:t>
            </a:r>
            <a:r>
              <a:rPr lang="en-US" i="0" dirty="0">
                <a:solidFill>
                  <a:schemeClr val="tx1">
                    <a:lumMod val="95000"/>
                    <a:lumOff val="5000"/>
                  </a:schemeClr>
                </a:solidFill>
                <a:effectLst/>
                <a:latin typeface="Times New Roman" panose="02020603050405020304" pitchFamily="18" charset="0"/>
                <a:cs typeface="Times New Roman" panose="02020603050405020304" pitchFamily="18" charset="0"/>
              </a:rPr>
              <a:t>development. The front end consists of the user interface (or UI), and the back end handles the business logic and application workflows that run behind the scenes.</a:t>
            </a:r>
          </a:p>
          <a:p>
            <a:pPr algn="just"/>
            <a:r>
              <a:rPr kumimoji="0" lang="en-US" altLang="en-US"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Full stack development refers to the development of both </a:t>
            </a:r>
            <a:r>
              <a:rPr kumimoji="0" lang="en-US" altLang="en-US" i="0" u="none" strike="noStrike" cap="none" normalizeH="0" baseline="0">
                <a:ln>
                  <a:noFill/>
                </a:ln>
                <a:solidFill>
                  <a:schemeClr val="tx1">
                    <a:lumMod val="95000"/>
                    <a:lumOff val="5000"/>
                  </a:schemeClr>
                </a:solidFill>
                <a:effectLst/>
                <a:latin typeface="Times New Roman" panose="02020603050405020304" pitchFamily="18" charset="0"/>
                <a:cs typeface="Times New Roman" panose="02020603050405020304" pitchFamily="18" charset="0"/>
              </a:rPr>
              <a:t>the frontend (clientside</a:t>
            </a:r>
            <a:r>
              <a:rPr kumimoji="0" lang="en-US" altLang="en-US"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a:ln>
                  <a:noFill/>
                </a:ln>
                <a:solidFill>
                  <a:schemeClr val="tx1">
                    <a:lumMod val="95000"/>
                    <a:lumOff val="5000"/>
                  </a:schemeClr>
                </a:solidFill>
                <a:effectLst/>
                <a:latin typeface="Times New Roman" panose="02020603050405020304" pitchFamily="18" charset="0"/>
                <a:cs typeface="Times New Roman" panose="02020603050405020304" pitchFamily="18" charset="0"/>
              </a:rPr>
              <a:t>and backend (serverside</a:t>
            </a:r>
            <a:r>
              <a:rPr kumimoji="0" lang="en-US" altLang="en-US" i="0" u="none" strike="noStrike" cap="none" normalizeH="0" baseline="0" dirty="0">
                <a:ln>
                  <a:noFill/>
                </a:ln>
                <a:solidFill>
                  <a:schemeClr val="tx1">
                    <a:lumMod val="95000"/>
                    <a:lumOff val="5000"/>
                  </a:schemeClr>
                </a:solidFill>
                <a:effectLst/>
                <a:latin typeface="Times New Roman" panose="02020603050405020304" pitchFamily="18" charset="0"/>
                <a:cs typeface="Times New Roman" panose="02020603050405020304" pitchFamily="18" charset="0"/>
              </a:rPr>
              <a:t>) parts of a web application.</a:t>
            </a:r>
          </a:p>
          <a:p>
            <a:pPr algn="just"/>
            <a:endParaRPr lang="en-US" dirty="0">
              <a:solidFill>
                <a:schemeClr val="tx2"/>
              </a:solidFill>
            </a:endParaRPr>
          </a:p>
        </p:txBody>
      </p:sp>
    </p:spTree>
    <p:extLst>
      <p:ext uri="{BB962C8B-B14F-4D97-AF65-F5344CB8AC3E}">
        <p14:creationId xmlns:p14="http://schemas.microsoft.com/office/powerpoint/2010/main" val="1084540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0DF51-472B-F990-C23C-F06B1CD764C8}"/>
              </a:ext>
            </a:extLst>
          </p:cNvPr>
          <p:cNvSpPr>
            <a:spLocks noGrp="1"/>
          </p:cNvSpPr>
          <p:nvPr>
            <p:ph type="title"/>
          </p:nvPr>
        </p:nvSpPr>
        <p:spPr>
          <a:xfrm>
            <a:off x="838200" y="0"/>
            <a:ext cx="10515600" cy="1120877"/>
          </a:xfrm>
        </p:spPr>
        <p:txBody>
          <a:bodyPr>
            <a:normAutofit fontScale="90000"/>
          </a:bodyPr>
          <a:lstStyle/>
          <a:p>
            <a:r>
              <a:rPr lang="en-US" b="0" i="0" dirty="0">
                <a:effectLst/>
                <a:latin typeface="Euclid Circular A"/>
              </a:rPr>
              <a:t>The front end: Crafting engaging user interfaces</a:t>
            </a:r>
            <a:br>
              <a:rPr lang="en-US" b="0" i="0" dirty="0">
                <a:effectLst/>
                <a:latin typeface="Euclid Circular A"/>
              </a:rPr>
            </a:br>
            <a:endParaRPr lang="en-US" dirty="0"/>
          </a:p>
        </p:txBody>
      </p:sp>
      <p:sp>
        <p:nvSpPr>
          <p:cNvPr id="3" name="Content Placeholder 2">
            <a:extLst>
              <a:ext uri="{FF2B5EF4-FFF2-40B4-BE49-F238E27FC236}">
                <a16:creationId xmlns:a16="http://schemas.microsoft.com/office/drawing/2014/main" id="{4B9CD7F0-9AA5-0409-74F9-E8695FB1468B}"/>
              </a:ext>
            </a:extLst>
          </p:cNvPr>
          <p:cNvSpPr>
            <a:spLocks noGrp="1"/>
          </p:cNvSpPr>
          <p:nvPr>
            <p:ph idx="1"/>
          </p:nvPr>
        </p:nvSpPr>
        <p:spPr>
          <a:xfrm>
            <a:off x="68826" y="560439"/>
            <a:ext cx="12123174" cy="6184489"/>
          </a:xfrm>
        </p:spPr>
        <p:txBody>
          <a:bodyPr>
            <a:normAutofit fontScale="92500"/>
          </a:bodyPr>
          <a:lstStyle/>
          <a:p>
            <a:pPr algn="just"/>
            <a:r>
              <a:rPr lang="en-US" sz="2400" b="0" i="0" dirty="0">
                <a:effectLst/>
                <a:latin typeface="Akzidenz Grotesk BQ Light"/>
              </a:rPr>
              <a:t>The front end is the face of a web application, the part that users interact with directly. </a:t>
            </a:r>
            <a:r>
              <a:rPr lang="en-US" sz="2400" b="0" i="0">
                <a:effectLst/>
                <a:latin typeface="Akzidenz Grotesk BQ Light"/>
              </a:rPr>
              <a:t>But frontend </a:t>
            </a:r>
            <a:r>
              <a:rPr lang="en-US" sz="2400" b="0" i="0" dirty="0">
                <a:effectLst/>
                <a:latin typeface="Akzidenz Grotesk BQ Light"/>
              </a:rPr>
              <a:t>development isn't just about making things look pretty. Full stack developers also focus on usability and accessibility, ensuring the UI is intuitive, easy to navigate, and inclusive to all users, including those with disabilities.</a:t>
            </a:r>
          </a:p>
          <a:p>
            <a:pPr marL="0" indent="0" algn="just">
              <a:buNone/>
            </a:pPr>
            <a:endParaRPr lang="en-US" sz="2400" b="0" i="0" dirty="0">
              <a:effectLst/>
              <a:latin typeface="Akzidenz Grotesk BQ Light"/>
            </a:endParaRPr>
          </a:p>
          <a:p>
            <a:pPr marL="0" indent="0" algn="just">
              <a:buNone/>
            </a:pPr>
            <a:r>
              <a:rPr lang="en-US" sz="2400" u="sng" dirty="0"/>
              <a:t>HTML (</a:t>
            </a:r>
            <a:r>
              <a:rPr lang="en-US" sz="2400" u="sng" dirty="0" err="1"/>
              <a:t>HyperText</a:t>
            </a:r>
            <a:r>
              <a:rPr lang="en-US" sz="2400" u="sng" dirty="0"/>
              <a:t> Markup Language)</a:t>
            </a:r>
          </a:p>
          <a:p>
            <a:pPr algn="just">
              <a:buFont typeface="Arial" panose="020B0604020202020204" pitchFamily="34" charset="0"/>
              <a:buChar char="•"/>
            </a:pPr>
            <a:r>
              <a:rPr lang="en-US" sz="2400" dirty="0"/>
              <a:t>The standard language for creating web pages.</a:t>
            </a:r>
          </a:p>
          <a:p>
            <a:pPr marL="0" indent="0" algn="just">
              <a:buNone/>
            </a:pPr>
            <a:endParaRPr lang="en-US" sz="2400" b="0" i="0" dirty="0">
              <a:effectLst/>
              <a:latin typeface="Akzidenz Grotesk BQ Light"/>
            </a:endParaRPr>
          </a:p>
          <a:p>
            <a:pPr marL="0" indent="0" algn="just">
              <a:buNone/>
            </a:pPr>
            <a:r>
              <a:rPr lang="en-US" sz="2400" u="sng" dirty="0"/>
              <a:t>CSS (Cascading Style Sheets)</a:t>
            </a:r>
          </a:p>
          <a:p>
            <a:pPr algn="just">
              <a:buFont typeface="Arial" panose="020B0604020202020204" pitchFamily="34" charset="0"/>
              <a:buChar char="•"/>
            </a:pPr>
            <a:r>
              <a:rPr lang="en-US" sz="2400" dirty="0"/>
              <a:t>Used for styling HTML elements to make web pages visually appealing.</a:t>
            </a:r>
          </a:p>
          <a:p>
            <a:pPr marL="0" indent="0" algn="just">
              <a:buNone/>
            </a:pPr>
            <a:endParaRPr lang="en-US" sz="2400" dirty="0"/>
          </a:p>
          <a:p>
            <a:pPr marL="0" indent="0" algn="just">
              <a:buNone/>
            </a:pPr>
            <a:r>
              <a:rPr lang="en-US" sz="2400" u="sng" dirty="0"/>
              <a:t>JavaScript</a:t>
            </a:r>
          </a:p>
          <a:p>
            <a:pPr algn="just">
              <a:buFont typeface="Arial" panose="020B0604020202020204" pitchFamily="34" charset="0"/>
              <a:buChar char="•"/>
            </a:pPr>
            <a:r>
              <a:rPr lang="en-US" sz="2400" dirty="0"/>
              <a:t>A programming language that adds interactivity and dynamic behavior to web pages.</a:t>
            </a:r>
          </a:p>
          <a:p>
            <a:pPr algn="just"/>
            <a:endParaRPr lang="en-US" dirty="0"/>
          </a:p>
        </p:txBody>
      </p:sp>
    </p:spTree>
    <p:extLst>
      <p:ext uri="{BB962C8B-B14F-4D97-AF65-F5344CB8AC3E}">
        <p14:creationId xmlns:p14="http://schemas.microsoft.com/office/powerpoint/2010/main" val="3963343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057" name="Rectangle 2056">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059" name="Rectangle 2058">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1752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61" name="Rectangle 2060">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7" y="0"/>
            <a:ext cx="12191999" cy="2217528"/>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E1CCE2-2F52-BE8C-5D92-592C09A2C078}"/>
              </a:ext>
            </a:extLst>
          </p:cNvPr>
          <p:cNvSpPr>
            <a:spLocks noGrp="1"/>
          </p:cNvSpPr>
          <p:nvPr>
            <p:ph type="title"/>
          </p:nvPr>
        </p:nvSpPr>
        <p:spPr>
          <a:xfrm>
            <a:off x="838200" y="381000"/>
            <a:ext cx="10003218" cy="1600124"/>
          </a:xfrm>
        </p:spPr>
        <p:txBody>
          <a:bodyPr>
            <a:normAutofit/>
          </a:bodyPr>
          <a:lstStyle/>
          <a:p>
            <a:r>
              <a:rPr lang="en-US" sz="4100" b="0" i="0">
                <a:effectLst/>
                <a:latin typeface="Euclid Circular A"/>
              </a:rPr>
              <a:t>The back end: Powering the application's core</a:t>
            </a:r>
            <a:br>
              <a:rPr lang="en-US" sz="4100" b="0" i="0">
                <a:effectLst/>
                <a:latin typeface="Euclid Circular A"/>
              </a:rPr>
            </a:br>
            <a:endParaRPr lang="en-US" sz="4100"/>
          </a:p>
        </p:txBody>
      </p:sp>
      <p:sp>
        <p:nvSpPr>
          <p:cNvPr id="3" name="Content Placeholder 2">
            <a:extLst>
              <a:ext uri="{FF2B5EF4-FFF2-40B4-BE49-F238E27FC236}">
                <a16:creationId xmlns:a16="http://schemas.microsoft.com/office/drawing/2014/main" id="{D241FF36-28B5-619E-95AF-5AA2C3CD8041}"/>
              </a:ext>
            </a:extLst>
          </p:cNvPr>
          <p:cNvSpPr>
            <a:spLocks noGrp="1"/>
          </p:cNvSpPr>
          <p:nvPr>
            <p:ph idx="1"/>
          </p:nvPr>
        </p:nvSpPr>
        <p:spPr>
          <a:xfrm>
            <a:off x="838200" y="2514600"/>
            <a:ext cx="4876800" cy="3783586"/>
          </a:xfrm>
        </p:spPr>
        <p:txBody>
          <a:bodyPr anchor="ctr">
            <a:normAutofit/>
          </a:bodyPr>
          <a:lstStyle/>
          <a:p>
            <a:pPr>
              <a:lnSpc>
                <a:spcPct val="100000"/>
              </a:lnSpc>
            </a:pPr>
            <a:r>
              <a:rPr lang="en-US" sz="1800" b="0" i="0">
                <a:solidFill>
                  <a:schemeClr val="tx2"/>
                </a:solidFill>
                <a:effectLst/>
                <a:latin typeface="Akzidenz Grotesk BQ Light"/>
              </a:rPr>
              <a:t>Backend </a:t>
            </a:r>
            <a:r>
              <a:rPr lang="en-US" sz="1800" b="0" i="0" dirty="0">
                <a:solidFill>
                  <a:schemeClr val="tx2"/>
                </a:solidFill>
                <a:effectLst/>
                <a:latin typeface="Akzidenz Grotesk BQ Light"/>
              </a:rPr>
              <a:t>developers play a crucial role in designing and implementing the application's core functionality, handling data management, and ensuring smooth integration with databases like MySQL, MongoDB.</a:t>
            </a:r>
          </a:p>
          <a:p>
            <a:pPr>
              <a:lnSpc>
                <a:spcPct val="100000"/>
              </a:lnSpc>
            </a:pPr>
            <a:r>
              <a:rPr lang="en-US" sz="1800" b="0" i="0" dirty="0">
                <a:solidFill>
                  <a:schemeClr val="tx2"/>
                </a:solidFill>
                <a:effectLst/>
                <a:latin typeface="Akzidenz Grotesk BQ Light"/>
              </a:rPr>
              <a:t>The full stack web developer implements </a:t>
            </a:r>
            <a:r>
              <a:rPr lang="en-US" sz="1800" b="0" i="0">
                <a:solidFill>
                  <a:schemeClr val="tx2"/>
                </a:solidFill>
                <a:effectLst/>
                <a:latin typeface="Akzidenz Grotesk BQ Light"/>
              </a:rPr>
              <a:t>the serverside </a:t>
            </a:r>
            <a:r>
              <a:rPr lang="en-US" sz="1800" b="0" i="0" dirty="0">
                <a:solidFill>
                  <a:schemeClr val="tx2"/>
                </a:solidFill>
                <a:effectLst/>
                <a:latin typeface="Akzidenz Grotesk BQ Light"/>
              </a:rPr>
              <a:t>logic, creates RESTful APIs, and handles data retrieval, manipulation, and storage. They ensure the security and scalability of </a:t>
            </a:r>
            <a:r>
              <a:rPr lang="en-US" sz="1800" b="0" i="0">
                <a:solidFill>
                  <a:schemeClr val="tx2"/>
                </a:solidFill>
                <a:effectLst/>
                <a:latin typeface="Akzidenz Grotesk BQ Light"/>
              </a:rPr>
              <a:t>the backend </a:t>
            </a:r>
            <a:r>
              <a:rPr lang="en-US" sz="1800" b="0" i="0" dirty="0">
                <a:solidFill>
                  <a:schemeClr val="tx2"/>
                </a:solidFill>
                <a:effectLst/>
                <a:latin typeface="Akzidenz Grotesk BQ Light"/>
              </a:rPr>
              <a:t>system, implementing authentication, authorization, and data validation mechanisms.</a:t>
            </a:r>
            <a:endParaRPr lang="en-US" sz="1800" dirty="0">
              <a:solidFill>
                <a:schemeClr val="tx2"/>
              </a:solidFill>
            </a:endParaRPr>
          </a:p>
        </p:txBody>
      </p:sp>
      <p:pic>
        <p:nvPicPr>
          <p:cNvPr id="2050" name="Picture 2" descr="Are Web Development and Full-Stack Same ...">
            <a:extLst>
              <a:ext uri="{FF2B5EF4-FFF2-40B4-BE49-F238E27FC236}">
                <a16:creationId xmlns:a16="http://schemas.microsoft.com/office/drawing/2014/main" id="{00A8F88B-A532-E90E-FBBF-E6E77D9DB0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283" r="12953" b="1"/>
          <a:stretch/>
        </p:blipFill>
        <p:spPr bwMode="auto">
          <a:xfrm>
            <a:off x="5996628" y="2217529"/>
            <a:ext cx="6195372" cy="4640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458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9F06C8-351B-DCA8-0891-BAAC27418E2C}"/>
              </a:ext>
            </a:extLst>
          </p:cNvPr>
          <p:cNvSpPr>
            <a:spLocks noGrp="1"/>
          </p:cNvSpPr>
          <p:nvPr>
            <p:ph idx="1"/>
          </p:nvPr>
        </p:nvSpPr>
        <p:spPr/>
        <p:txBody>
          <a:bodyPr/>
          <a:lstStyle/>
          <a:p>
            <a:pPr marL="0" indent="0">
              <a:buNone/>
            </a:pPr>
            <a:r>
              <a:rPr lang="en-US" dirty="0"/>
              <a:t>Link--            </a:t>
            </a:r>
            <a:r>
              <a:rPr lang="en-US" dirty="0">
                <a:hlinkClick r:id="rId2"/>
              </a:rPr>
              <a:t>https://sanviojharesume09.netlify.app/</a:t>
            </a:r>
            <a:r>
              <a:rPr lang="en-US" dirty="0"/>
              <a:t> </a:t>
            </a:r>
          </a:p>
          <a:p>
            <a:r>
              <a:rPr lang="en-US" sz="2200" b="0" i="0" u="none" strike="noStrike" baseline="0" dirty="0">
                <a:latin typeface="Times New Roman" panose="02020603050405020304" pitchFamily="18" charset="0"/>
              </a:rPr>
              <a:t>This project is a React-based single-page application designed to showcase my personal and professional profile. This project serves as an online portfolio, enabling visitors to navigate through various sections that highlight different aspects of my background and skills </a:t>
            </a:r>
            <a:endParaRPr lang="en-US" sz="2200" dirty="0"/>
          </a:p>
        </p:txBody>
      </p:sp>
      <p:sp>
        <p:nvSpPr>
          <p:cNvPr id="4" name="TextBox 3">
            <a:extLst>
              <a:ext uri="{FF2B5EF4-FFF2-40B4-BE49-F238E27FC236}">
                <a16:creationId xmlns:a16="http://schemas.microsoft.com/office/drawing/2014/main" id="{BCFDE81D-4BE6-797D-13A4-73F33E0E75C2}"/>
              </a:ext>
            </a:extLst>
          </p:cNvPr>
          <p:cNvSpPr txBox="1"/>
          <p:nvPr/>
        </p:nvSpPr>
        <p:spPr>
          <a:xfrm>
            <a:off x="1717098" y="343455"/>
            <a:ext cx="6094268" cy="646331"/>
          </a:xfrm>
          <a:prstGeom prst="rect">
            <a:avLst/>
          </a:prstGeom>
          <a:noFill/>
        </p:spPr>
        <p:txBody>
          <a:bodyPr wrap="square">
            <a:spAutoFit/>
          </a:bodyPr>
          <a:lstStyle/>
          <a:p>
            <a:r>
              <a:rPr lang="en-US" sz="3600" b="1" dirty="0">
                <a:solidFill>
                  <a:schemeClr val="bg1"/>
                </a:solidFill>
              </a:rPr>
              <a:t>RESUME</a:t>
            </a:r>
          </a:p>
        </p:txBody>
      </p:sp>
    </p:spTree>
    <p:extLst>
      <p:ext uri="{BB962C8B-B14F-4D97-AF65-F5344CB8AC3E}">
        <p14:creationId xmlns:p14="http://schemas.microsoft.com/office/powerpoint/2010/main" val="1522705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FB9A0-5F6E-99B6-44EC-E0CD90912D18}"/>
              </a:ext>
            </a:extLst>
          </p:cNvPr>
          <p:cNvSpPr>
            <a:spLocks noGrp="1"/>
          </p:cNvSpPr>
          <p:nvPr>
            <p:ph type="title"/>
          </p:nvPr>
        </p:nvSpPr>
        <p:spPr/>
        <p:txBody>
          <a:bodyPr/>
          <a:lstStyle/>
          <a:p>
            <a:r>
              <a:rPr lang="en-US" dirty="0"/>
              <a:t>TIC-TAC-TOE</a:t>
            </a:r>
          </a:p>
        </p:txBody>
      </p:sp>
      <p:sp>
        <p:nvSpPr>
          <p:cNvPr id="3" name="Content Placeholder 2">
            <a:extLst>
              <a:ext uri="{FF2B5EF4-FFF2-40B4-BE49-F238E27FC236}">
                <a16:creationId xmlns:a16="http://schemas.microsoft.com/office/drawing/2014/main" id="{0244A6E8-3014-1F54-0C58-74ACD77283B2}"/>
              </a:ext>
            </a:extLst>
          </p:cNvPr>
          <p:cNvSpPr>
            <a:spLocks noGrp="1"/>
          </p:cNvSpPr>
          <p:nvPr>
            <p:ph idx="1"/>
          </p:nvPr>
        </p:nvSpPr>
        <p:spPr/>
        <p:txBody>
          <a:bodyPr>
            <a:normAutofit fontScale="77500" lnSpcReduction="20000"/>
          </a:bodyPr>
          <a:lstStyle/>
          <a:p>
            <a:r>
              <a:rPr lang="en-US" dirty="0"/>
              <a:t>LINK-----   </a:t>
            </a:r>
            <a:r>
              <a:rPr lang="en-US" dirty="0">
                <a:hlinkClick r:id="rId2"/>
              </a:rPr>
              <a:t>https://gametictactoest.netlify.app/</a:t>
            </a:r>
            <a:r>
              <a:rPr lang="en-US" dirty="0"/>
              <a:t>  </a:t>
            </a:r>
          </a:p>
          <a:p>
            <a:pPr marL="0" indent="0">
              <a:buNone/>
            </a:pPr>
            <a:r>
              <a:rPr lang="en-US" dirty="0"/>
              <a:t>[Summary:</a:t>
            </a:r>
          </a:p>
          <a:p>
            <a:pPr marL="0" indent="0">
              <a:buNone/>
            </a:pPr>
            <a:r>
              <a:rPr lang="en-US" dirty="0"/>
              <a:t>State: The game uses </a:t>
            </a:r>
            <a:r>
              <a:rPr lang="en-US" dirty="0" err="1"/>
              <a:t>React's</a:t>
            </a:r>
            <a:r>
              <a:rPr lang="en-US" dirty="0"/>
              <a:t> </a:t>
            </a:r>
            <a:r>
              <a:rPr lang="en-US" dirty="0" err="1"/>
              <a:t>useState</a:t>
            </a:r>
            <a:r>
              <a:rPr lang="en-US" dirty="0"/>
              <a:t> to manage the board, move history, and turns.</a:t>
            </a:r>
          </a:p>
          <a:p>
            <a:pPr marL="0" indent="0">
              <a:buNone/>
            </a:pPr>
            <a:r>
              <a:rPr lang="en-US" dirty="0"/>
              <a:t>Components: The app is broken down into reusable components (Square, Board, </a:t>
            </a:r>
            <a:r>
              <a:rPr lang="en-US" dirty="0" err="1"/>
              <a:t>TicTacToe</a:t>
            </a:r>
            <a:r>
              <a:rPr lang="en-US" dirty="0"/>
              <a:t>).</a:t>
            </a:r>
          </a:p>
          <a:p>
            <a:pPr marL="0" indent="0">
              <a:buNone/>
            </a:pPr>
            <a:r>
              <a:rPr lang="en-US" dirty="0"/>
              <a:t>Functionality:</a:t>
            </a:r>
          </a:p>
          <a:p>
            <a:pPr marL="0" indent="0">
              <a:buNone/>
            </a:pPr>
            <a:r>
              <a:rPr lang="en-US" dirty="0"/>
              <a:t>Players take turns clicking squares to place their marks ("X" or "O").</a:t>
            </a:r>
          </a:p>
          <a:p>
            <a:pPr marL="0" indent="0">
              <a:buNone/>
            </a:pPr>
            <a:r>
              <a:rPr lang="en-US" dirty="0"/>
              <a:t>The game detects winners using </a:t>
            </a:r>
            <a:r>
              <a:rPr lang="en-US" dirty="0" err="1"/>
              <a:t>calculateWinner</a:t>
            </a:r>
            <a:r>
              <a:rPr lang="en-US" dirty="0"/>
              <a:t>().</a:t>
            </a:r>
          </a:p>
          <a:p>
            <a:pPr marL="0" indent="0">
              <a:buNone/>
            </a:pPr>
            <a:r>
              <a:rPr lang="en-US" dirty="0"/>
              <a:t>Players can navigate through the move history and reset the game ]</a:t>
            </a:r>
          </a:p>
        </p:txBody>
      </p:sp>
    </p:spTree>
    <p:extLst>
      <p:ext uri="{BB962C8B-B14F-4D97-AF65-F5344CB8AC3E}">
        <p14:creationId xmlns:p14="http://schemas.microsoft.com/office/powerpoint/2010/main" val="2978422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94AB6-8E59-5E5A-6C1F-C61382A10F3A}"/>
              </a:ext>
            </a:extLst>
          </p:cNvPr>
          <p:cNvSpPr>
            <a:spLocks noGrp="1"/>
          </p:cNvSpPr>
          <p:nvPr>
            <p:ph type="title"/>
          </p:nvPr>
        </p:nvSpPr>
        <p:spPr>
          <a:xfrm>
            <a:off x="318678" y="127820"/>
            <a:ext cx="10309993" cy="1022554"/>
          </a:xfrm>
        </p:spPr>
        <p:txBody>
          <a:bodyPr>
            <a:normAutofit/>
          </a:bodyPr>
          <a:lstStyle/>
          <a:p>
            <a:pPr algn="ctr"/>
            <a:r>
              <a:rPr lang="en-US" dirty="0"/>
              <a:t>Tech STACK</a:t>
            </a:r>
          </a:p>
        </p:txBody>
      </p:sp>
      <p:sp>
        <p:nvSpPr>
          <p:cNvPr id="4" name="Text Placeholder 3">
            <a:extLst>
              <a:ext uri="{FF2B5EF4-FFF2-40B4-BE49-F238E27FC236}">
                <a16:creationId xmlns:a16="http://schemas.microsoft.com/office/drawing/2014/main" id="{24A1B368-D212-8B0F-A10B-C8336DB1AF45}"/>
              </a:ext>
            </a:extLst>
          </p:cNvPr>
          <p:cNvSpPr>
            <a:spLocks noGrp="1"/>
          </p:cNvSpPr>
          <p:nvPr>
            <p:ph type="body" sz="half" idx="2"/>
          </p:nvPr>
        </p:nvSpPr>
        <p:spPr>
          <a:xfrm>
            <a:off x="0" y="1278193"/>
            <a:ext cx="12192000" cy="5053781"/>
          </a:xfrm>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Arial" panose="020B0604020202020204" pitchFamily="34" charset="0"/>
              </a:rPr>
              <a:t>Tech Stack</a:t>
            </a:r>
            <a:r>
              <a:rPr kumimoji="0" lang="en-US" altLang="en-US" sz="2400" b="0" i="0" u="none" strike="noStrike" cap="none" normalizeH="0" baseline="0" dirty="0">
                <a:ln>
                  <a:noFill/>
                </a:ln>
                <a:effectLst/>
                <a:latin typeface="Arial" panose="020B0604020202020204" pitchFamily="34" charset="0"/>
              </a:rPr>
              <a:t>: A combination of technologies used to build a web or mobile application. It typically includes: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effectLst/>
                <a:latin typeface="Arial" panose="020B0604020202020204" pitchFamily="34" charset="0"/>
              </a:rPr>
              <a:t>FrontEnd</a:t>
            </a:r>
            <a:r>
              <a:rPr kumimoji="0" lang="en-US" altLang="en-US" sz="2400" b="1" i="0" u="none" strike="noStrike" cap="none" normalizeH="0" baseline="0" dirty="0">
                <a:ln>
                  <a:noFill/>
                </a:ln>
                <a:effectLst/>
                <a:latin typeface="Arial" panose="020B0604020202020204" pitchFamily="34" charset="0"/>
              </a:rPr>
              <a:t> Framework</a:t>
            </a:r>
            <a:r>
              <a:rPr kumimoji="0" lang="en-US" altLang="en-US" sz="2400" b="0" i="0" u="none" strike="noStrike" cap="none" normalizeH="0" baseline="0" dirty="0">
                <a:ln>
                  <a:noFill/>
                </a:ln>
                <a:effectLst/>
                <a:latin typeface="Arial" panose="020B0604020202020204" pitchFamily="34" charset="0"/>
              </a:rPr>
              <a:t> (e.g., React)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a:ln>
                  <a:noFill/>
                </a:ln>
                <a:effectLst/>
                <a:latin typeface="Arial" panose="020B0604020202020204" pitchFamily="34" charset="0"/>
              </a:rPr>
              <a:t>BackEnd</a:t>
            </a:r>
            <a:r>
              <a:rPr kumimoji="0" lang="en-US" altLang="en-US" sz="2400" b="1" i="0" u="none" strike="noStrike" cap="none" normalizeH="0" baseline="0" dirty="0">
                <a:ln>
                  <a:noFill/>
                </a:ln>
                <a:effectLst/>
                <a:latin typeface="Arial" panose="020B0604020202020204" pitchFamily="34" charset="0"/>
              </a:rPr>
              <a:t> Framework</a:t>
            </a:r>
            <a:r>
              <a:rPr kumimoji="0" lang="en-US" altLang="en-US" sz="2400" b="0" i="0" u="none" strike="noStrike" cap="none" normalizeH="0" baseline="0" dirty="0">
                <a:ln>
                  <a:noFill/>
                </a:ln>
                <a:effectLst/>
                <a:latin typeface="Arial" panose="020B0604020202020204" pitchFamily="34" charset="0"/>
              </a:rPr>
              <a:t> (e.g., Express.js)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Arial" panose="020B0604020202020204" pitchFamily="34" charset="0"/>
              </a:rPr>
              <a:t>Database</a:t>
            </a:r>
            <a:r>
              <a:rPr kumimoji="0" lang="en-US" altLang="en-US" sz="2400" b="0" i="0" u="none" strike="noStrike" cap="none" normalizeH="0" baseline="0" dirty="0">
                <a:ln>
                  <a:noFill/>
                </a:ln>
                <a:effectLst/>
                <a:latin typeface="Arial" panose="020B0604020202020204" pitchFamily="34" charset="0"/>
              </a:rPr>
              <a:t> (e.g., MongoDB)</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effectLst/>
                <a:latin typeface="Arial" panose="020B0604020202020204" pitchFamily="34" charset="0"/>
              </a:rPr>
              <a:t>Runtime Environment</a:t>
            </a:r>
            <a:r>
              <a:rPr kumimoji="0" lang="en-US" altLang="en-US" sz="2400" b="0" i="0" u="none" strike="noStrike" cap="none" normalizeH="0" baseline="0" dirty="0">
                <a:ln>
                  <a:noFill/>
                </a:ln>
                <a:effectLst/>
                <a:latin typeface="Arial" panose="020B0604020202020204" pitchFamily="34" charset="0"/>
              </a:rPr>
              <a:t> (e.g., Node.js)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effectLst/>
                <a:latin typeface="Arial" panose="020B0604020202020204" pitchFamily="34" charset="0"/>
              </a:rPr>
              <a:t>Developers choose stacks that best suit the needs of their project. The term "stack" refers to a set of technologies that work together to support both the frontend and backend of a web app. </a:t>
            </a:r>
          </a:p>
          <a:p>
            <a:endParaRPr lang="en-US" dirty="0"/>
          </a:p>
        </p:txBody>
      </p:sp>
    </p:spTree>
    <p:extLst>
      <p:ext uri="{BB962C8B-B14F-4D97-AF65-F5344CB8AC3E}">
        <p14:creationId xmlns:p14="http://schemas.microsoft.com/office/powerpoint/2010/main" val="3619580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C711C-0165-90F6-BC93-FFB53E76598F}"/>
              </a:ext>
            </a:extLst>
          </p:cNvPr>
          <p:cNvSpPr>
            <a:spLocks noGrp="1"/>
          </p:cNvSpPr>
          <p:nvPr>
            <p:ph type="title"/>
          </p:nvPr>
        </p:nvSpPr>
        <p:spPr>
          <a:xfrm>
            <a:off x="838200" y="50005"/>
            <a:ext cx="10515600" cy="1325563"/>
          </a:xfrm>
        </p:spPr>
        <p:txBody>
          <a:bodyPr>
            <a:normAutofit fontScale="90000"/>
          </a:bodyPr>
          <a:lstStyle/>
          <a:p>
            <a:pPr algn="ctr"/>
            <a:r>
              <a:rPr lang="en-US" dirty="0"/>
              <a:t>MERN Stack</a:t>
            </a:r>
            <a:br>
              <a:rPr lang="en-US" dirty="0"/>
            </a:br>
            <a:endParaRPr lang="en-US" dirty="0"/>
          </a:p>
        </p:txBody>
      </p:sp>
      <p:sp>
        <p:nvSpPr>
          <p:cNvPr id="3" name="Content Placeholder 2">
            <a:extLst>
              <a:ext uri="{FF2B5EF4-FFF2-40B4-BE49-F238E27FC236}">
                <a16:creationId xmlns:a16="http://schemas.microsoft.com/office/drawing/2014/main" id="{81FF497D-C951-29AF-6E14-D2710E748357}"/>
              </a:ext>
            </a:extLst>
          </p:cNvPr>
          <p:cNvSpPr>
            <a:spLocks noGrp="1"/>
          </p:cNvSpPr>
          <p:nvPr>
            <p:ph idx="1"/>
          </p:nvPr>
        </p:nvSpPr>
        <p:spPr>
          <a:xfrm>
            <a:off x="0" y="1012722"/>
            <a:ext cx="12192000" cy="5805105"/>
          </a:xfrm>
        </p:spPr>
        <p:txBody>
          <a:bodyPr>
            <a:normAutofit fontScale="25000" lnSpcReduction="20000"/>
          </a:bodyPr>
          <a:lstStyle/>
          <a:p>
            <a:pPr marL="0" indent="0" algn="just">
              <a:buNone/>
            </a:pPr>
            <a:r>
              <a:rPr lang="en-US" sz="9600" dirty="0">
                <a:latin typeface="Times New Roman" panose="02020603050405020304" pitchFamily="18" charset="0"/>
                <a:cs typeface="Times New Roman" panose="02020603050405020304" pitchFamily="18" charset="0"/>
              </a:rPr>
              <a:t> </a:t>
            </a:r>
            <a:r>
              <a:rPr lang="en-US" sz="8800" dirty="0">
                <a:latin typeface="Times New Roman" panose="02020603050405020304" pitchFamily="18" charset="0"/>
                <a:cs typeface="Times New Roman" panose="02020603050405020304" pitchFamily="18" charset="0"/>
              </a:rPr>
              <a:t>MERN is a popular JavaScript-based full stack development framework used to build dynamic web applications. </a:t>
            </a:r>
          </a:p>
          <a:p>
            <a:pPr algn="just"/>
            <a:r>
              <a:rPr lang="en-US" sz="8800" dirty="0">
                <a:latin typeface="Times New Roman" panose="02020603050405020304" pitchFamily="18" charset="0"/>
                <a:cs typeface="Times New Roman" panose="02020603050405020304" pitchFamily="18" charset="0"/>
              </a:rPr>
              <a:t> It consists of four key technologies: MongoDB, Express.js, React.js, and Node.js.</a:t>
            </a:r>
          </a:p>
          <a:p>
            <a:pPr algn="just"/>
            <a:r>
              <a:rPr lang="en-US" sz="8800" dirty="0">
                <a:latin typeface="Times New Roman" panose="02020603050405020304" pitchFamily="18" charset="0"/>
                <a:cs typeface="Times New Roman" panose="02020603050405020304" pitchFamily="18" charset="0"/>
              </a:rPr>
              <a:t> Key Components of MERN Stack:</a:t>
            </a:r>
          </a:p>
          <a:p>
            <a:pPr marL="0" indent="0" algn="just">
              <a:buNone/>
            </a:pPr>
            <a:r>
              <a:rPr lang="en-US" sz="8800" b="1" u="sng" dirty="0">
                <a:latin typeface="Times New Roman" panose="02020603050405020304" pitchFamily="18" charset="0"/>
                <a:cs typeface="Times New Roman" panose="02020603050405020304" pitchFamily="18" charset="0"/>
              </a:rPr>
              <a:t>1. MongoDB (Database):</a:t>
            </a:r>
          </a:p>
          <a:p>
            <a:pPr algn="just"/>
            <a:r>
              <a:rPr lang="en-US" sz="8800" dirty="0">
                <a:latin typeface="Times New Roman" panose="02020603050405020304" pitchFamily="18" charset="0"/>
                <a:cs typeface="Times New Roman" panose="02020603050405020304" pitchFamily="18" charset="0"/>
              </a:rPr>
              <a:t>Type: NoSQL, document-based database.</a:t>
            </a:r>
          </a:p>
          <a:p>
            <a:pPr algn="just"/>
            <a:r>
              <a:rPr lang="en-US" sz="8800" dirty="0">
                <a:latin typeface="Times New Roman" panose="02020603050405020304" pitchFamily="18" charset="0"/>
                <a:cs typeface="Times New Roman" panose="02020603050405020304" pitchFamily="18" charset="0"/>
              </a:rPr>
              <a:t>Stores data in flexible, JSON-like documents (instead of tables as in traditional relational databases).</a:t>
            </a:r>
          </a:p>
          <a:p>
            <a:pPr algn="just"/>
            <a:r>
              <a:rPr lang="en-US" sz="8800" dirty="0">
                <a:latin typeface="Times New Roman" panose="02020603050405020304" pitchFamily="18" charset="0"/>
                <a:cs typeface="Times New Roman" panose="02020603050405020304" pitchFamily="18" charset="0"/>
              </a:rPr>
              <a:t>Role: Used for storing and retrieving large volumes of data efficiently.</a:t>
            </a:r>
          </a:p>
          <a:p>
            <a:pPr marL="0" indent="0" algn="just">
              <a:buNone/>
            </a:pPr>
            <a:r>
              <a:rPr lang="en-US" sz="8800" b="1" u="sng" dirty="0">
                <a:latin typeface="Times New Roman" panose="02020603050405020304" pitchFamily="18" charset="0"/>
                <a:cs typeface="Times New Roman" panose="02020603050405020304" pitchFamily="18" charset="0"/>
              </a:rPr>
              <a:t>2. Express.js (</a:t>
            </a:r>
            <a:r>
              <a:rPr lang="en-US" sz="8800" b="1" u="sng" dirty="0" err="1">
                <a:latin typeface="Times New Roman" panose="02020603050405020304" pitchFamily="18" charset="0"/>
                <a:cs typeface="Times New Roman" panose="02020603050405020304" pitchFamily="18" charset="0"/>
              </a:rPr>
              <a:t>BackEnd</a:t>
            </a:r>
            <a:r>
              <a:rPr lang="en-US" sz="8800" b="1" u="sng" dirty="0">
                <a:latin typeface="Times New Roman" panose="02020603050405020304" pitchFamily="18" charset="0"/>
                <a:cs typeface="Times New Roman" panose="02020603050405020304" pitchFamily="18" charset="0"/>
              </a:rPr>
              <a:t> Framework):</a:t>
            </a:r>
          </a:p>
          <a:p>
            <a:pPr algn="just"/>
            <a:r>
              <a:rPr lang="en-US" sz="8800" dirty="0">
                <a:latin typeface="Times New Roman" panose="02020603050405020304" pitchFamily="18" charset="0"/>
                <a:cs typeface="Times New Roman" panose="02020603050405020304" pitchFamily="18" charset="0"/>
              </a:rPr>
              <a:t>Type: Web framework for Node.js.</a:t>
            </a:r>
          </a:p>
          <a:p>
            <a:pPr algn="just"/>
            <a:r>
              <a:rPr lang="en-US" sz="8800" dirty="0">
                <a:latin typeface="Times New Roman" panose="02020603050405020304" pitchFamily="18" charset="0"/>
                <a:cs typeface="Times New Roman" panose="02020603050405020304" pitchFamily="18" charset="0"/>
              </a:rPr>
              <a:t>Simplifies handling of HTTP requests, routes, and middleware(user authentication and data parsing).</a:t>
            </a:r>
          </a:p>
          <a:p>
            <a:pPr algn="just"/>
            <a:r>
              <a:rPr lang="en-US" sz="8800" dirty="0">
                <a:latin typeface="Times New Roman" panose="02020603050405020304" pitchFamily="18" charset="0"/>
                <a:cs typeface="Times New Roman" panose="02020603050405020304" pitchFamily="18" charset="0"/>
              </a:rPr>
              <a:t>Role: Provides a lightweight(less and easy to understand syntax), fast, and scalable framework to manage the server side logic of applications.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9070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105" name="Picture 4104">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4107" name="Rectangle 410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09" name="Rectangle 4108">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 name="TextBox 2">
            <a:extLst>
              <a:ext uri="{FF2B5EF4-FFF2-40B4-BE49-F238E27FC236}">
                <a16:creationId xmlns:a16="http://schemas.microsoft.com/office/drawing/2014/main" id="{E51A3619-F657-7BBE-291A-A0523E94A676}"/>
              </a:ext>
            </a:extLst>
          </p:cNvPr>
          <p:cNvSpPr txBox="1"/>
          <p:nvPr/>
        </p:nvSpPr>
        <p:spPr>
          <a:xfrm>
            <a:off x="88491" y="314633"/>
            <a:ext cx="5790881" cy="6449960"/>
          </a:xfrm>
          <a:prstGeom prst="rect">
            <a:avLst/>
          </a:prstGeom>
        </p:spPr>
        <p:txBody>
          <a:bodyPr vert="horz" lIns="91440" tIns="45720" rIns="91440" bIns="45720" rtlCol="0">
            <a:normAutofit lnSpcReduction="10000"/>
          </a:bodyPr>
          <a:lstStyle/>
          <a:p>
            <a:pPr indent="-228600">
              <a:spcAft>
                <a:spcPts val="600"/>
              </a:spcAft>
              <a:buClr>
                <a:schemeClr val="accent1"/>
              </a:buClr>
              <a:buFont typeface="Arial" panose="020B0604020202020204" pitchFamily="34" charset="0"/>
              <a:buChar char="•"/>
            </a:pPr>
            <a:r>
              <a:rPr lang="en-US" sz="2200" b="1" u="sng" dirty="0">
                <a:solidFill>
                  <a:schemeClr val="tx2"/>
                </a:solidFill>
                <a:latin typeface="Times New Roman" panose="02020603050405020304" pitchFamily="18" charset="0"/>
                <a:cs typeface="Times New Roman" panose="02020603050405020304" pitchFamily="18" charset="0"/>
              </a:rPr>
              <a:t>3. React.js (</a:t>
            </a:r>
            <a:r>
              <a:rPr lang="en-US" sz="2200" b="1" u="sng" dirty="0" err="1">
                <a:solidFill>
                  <a:schemeClr val="tx2"/>
                </a:solidFill>
                <a:latin typeface="Times New Roman" panose="02020603050405020304" pitchFamily="18" charset="0"/>
                <a:cs typeface="Times New Roman" panose="02020603050405020304" pitchFamily="18" charset="0"/>
              </a:rPr>
              <a:t>FrontEnd</a:t>
            </a:r>
            <a:r>
              <a:rPr lang="en-US" sz="2200" b="1" u="sng" dirty="0">
                <a:solidFill>
                  <a:schemeClr val="tx2"/>
                </a:solidFill>
                <a:latin typeface="Times New Roman" panose="02020603050405020304" pitchFamily="18" charset="0"/>
                <a:cs typeface="Times New Roman" panose="02020603050405020304" pitchFamily="18" charset="0"/>
              </a:rPr>
              <a:t> Library):</a:t>
            </a:r>
          </a:p>
          <a:p>
            <a:pPr indent="-228600">
              <a:spcAft>
                <a:spcPts val="600"/>
              </a:spcAft>
              <a:buClr>
                <a:schemeClr val="accent1"/>
              </a:buClr>
              <a:buFont typeface="Arial" panose="020B0604020202020204" pitchFamily="34" charset="0"/>
              <a:buChar char="•"/>
            </a:pPr>
            <a:endParaRPr lang="en-US" sz="2200" u="sng" dirty="0">
              <a:solidFill>
                <a:schemeClr val="tx2"/>
              </a:solidFill>
              <a:latin typeface="Times New Roman" panose="02020603050405020304" pitchFamily="18" charset="0"/>
              <a:cs typeface="Times New Roman" panose="02020603050405020304" pitchFamily="18" charset="0"/>
            </a:endParaRPr>
          </a:p>
          <a:p>
            <a:pPr marL="342900" indent="-228600">
              <a:spcAft>
                <a:spcPts val="600"/>
              </a:spcAft>
              <a:buClr>
                <a:schemeClr val="accent1"/>
              </a:buClr>
              <a:buFont typeface="Arial" panose="020B0604020202020204" pitchFamily="34" charset="0"/>
              <a:buChar char="•"/>
            </a:pPr>
            <a:r>
              <a:rPr lang="en-US" sz="2200" dirty="0">
                <a:solidFill>
                  <a:schemeClr val="tx2"/>
                </a:solidFill>
                <a:latin typeface="Times New Roman" panose="02020603050405020304" pitchFamily="18" charset="0"/>
                <a:cs typeface="Times New Roman" panose="02020603050405020304" pitchFamily="18" charset="0"/>
              </a:rPr>
              <a:t>Type: JavaScript library for building user interfaces.</a:t>
            </a:r>
          </a:p>
          <a:p>
            <a:pPr marL="342900" indent="-228600">
              <a:spcAft>
                <a:spcPts val="600"/>
              </a:spcAft>
              <a:buClr>
                <a:schemeClr val="accent1"/>
              </a:buClr>
              <a:buFont typeface="Arial" panose="020B0604020202020204" pitchFamily="34" charset="0"/>
              <a:buChar char="•"/>
            </a:pPr>
            <a:r>
              <a:rPr lang="en-US" sz="2200" dirty="0">
                <a:solidFill>
                  <a:schemeClr val="tx2"/>
                </a:solidFill>
                <a:latin typeface="Times New Roman" panose="02020603050405020304" pitchFamily="18" charset="0"/>
                <a:cs typeface="Times New Roman" panose="02020603050405020304" pitchFamily="18" charset="0"/>
              </a:rPr>
              <a:t>Purpose: Helps create dynamic, interactive user interfaces with reusable components.</a:t>
            </a:r>
          </a:p>
          <a:p>
            <a:pPr marL="342900" indent="-228600">
              <a:spcAft>
                <a:spcPts val="600"/>
              </a:spcAft>
              <a:buClr>
                <a:schemeClr val="accent1"/>
              </a:buClr>
              <a:buFont typeface="Arial" panose="020B0604020202020204" pitchFamily="34" charset="0"/>
              <a:buChar char="•"/>
            </a:pPr>
            <a:r>
              <a:rPr lang="en-US" sz="2200" dirty="0">
                <a:solidFill>
                  <a:schemeClr val="tx2"/>
                </a:solidFill>
                <a:latin typeface="Times New Roman" panose="02020603050405020304" pitchFamily="18" charset="0"/>
                <a:cs typeface="Times New Roman" panose="02020603050405020304" pitchFamily="18" charset="0"/>
              </a:rPr>
              <a:t>Role: Manages the frontend, providing a smooth, responsive user experience.</a:t>
            </a:r>
          </a:p>
          <a:p>
            <a:pPr indent="-228600">
              <a:spcAft>
                <a:spcPts val="600"/>
              </a:spcAft>
              <a:buClr>
                <a:schemeClr val="accent1"/>
              </a:buClr>
              <a:buFont typeface="Arial" panose="020B0604020202020204" pitchFamily="34" charset="0"/>
              <a:buChar char="•"/>
            </a:pPr>
            <a:endParaRPr lang="en-US" sz="2200" dirty="0">
              <a:solidFill>
                <a:schemeClr val="tx2"/>
              </a:solidFill>
              <a:latin typeface="Times New Roman" panose="02020603050405020304" pitchFamily="18" charset="0"/>
              <a:cs typeface="Times New Roman" panose="02020603050405020304" pitchFamily="18" charset="0"/>
            </a:endParaRPr>
          </a:p>
          <a:p>
            <a:pPr indent="-228600">
              <a:spcAft>
                <a:spcPts val="600"/>
              </a:spcAft>
              <a:buClr>
                <a:schemeClr val="accent1"/>
              </a:buClr>
              <a:buFont typeface="Arial" panose="020B0604020202020204" pitchFamily="34" charset="0"/>
              <a:buChar char="•"/>
            </a:pPr>
            <a:r>
              <a:rPr lang="en-US" sz="2200" b="1" u="sng" dirty="0">
                <a:solidFill>
                  <a:schemeClr val="tx2"/>
                </a:solidFill>
                <a:latin typeface="Times New Roman" panose="02020603050405020304" pitchFamily="18" charset="0"/>
                <a:cs typeface="Times New Roman" panose="02020603050405020304" pitchFamily="18" charset="0"/>
              </a:rPr>
              <a:t>4. Node.js (Runtime Environment):</a:t>
            </a:r>
          </a:p>
          <a:p>
            <a:pPr indent="-228600">
              <a:spcAft>
                <a:spcPts val="600"/>
              </a:spcAft>
              <a:buClr>
                <a:schemeClr val="accent1"/>
              </a:buClr>
              <a:buFont typeface="Arial" panose="020B0604020202020204" pitchFamily="34" charset="0"/>
              <a:buChar char="•"/>
            </a:pPr>
            <a:endParaRPr lang="en-US" sz="2200" u="sng" dirty="0">
              <a:solidFill>
                <a:schemeClr val="tx2"/>
              </a:solidFill>
              <a:latin typeface="Times New Roman" panose="02020603050405020304" pitchFamily="18" charset="0"/>
              <a:cs typeface="Times New Roman" panose="02020603050405020304" pitchFamily="18" charset="0"/>
            </a:endParaRPr>
          </a:p>
          <a:p>
            <a:pPr marL="342900" indent="-228600">
              <a:spcAft>
                <a:spcPts val="600"/>
              </a:spcAft>
              <a:buClr>
                <a:schemeClr val="accent1"/>
              </a:buClr>
              <a:buFont typeface="Arial" panose="020B0604020202020204" pitchFamily="34" charset="0"/>
              <a:buChar char="•"/>
            </a:pPr>
            <a:r>
              <a:rPr lang="en-US" sz="2200" dirty="0">
                <a:solidFill>
                  <a:schemeClr val="tx2"/>
                </a:solidFill>
                <a:latin typeface="Times New Roman" panose="02020603050405020304" pitchFamily="18" charset="0"/>
                <a:cs typeface="Times New Roman" panose="02020603050405020304" pitchFamily="18" charset="0"/>
              </a:rPr>
              <a:t>Type: JavaScript runtime built on Chrome’s V8 engine.</a:t>
            </a:r>
          </a:p>
          <a:p>
            <a:pPr marL="342900" indent="-228600">
              <a:spcAft>
                <a:spcPts val="600"/>
              </a:spcAft>
              <a:buClr>
                <a:schemeClr val="accent1"/>
              </a:buClr>
              <a:buFont typeface="Arial" panose="020B0604020202020204" pitchFamily="34" charset="0"/>
              <a:buChar char="•"/>
            </a:pPr>
            <a:r>
              <a:rPr lang="en-US" sz="2200" dirty="0">
                <a:solidFill>
                  <a:schemeClr val="tx2"/>
                </a:solidFill>
                <a:latin typeface="Times New Roman" panose="02020603050405020304" pitchFamily="18" charset="0"/>
                <a:cs typeface="Times New Roman" panose="02020603050405020304" pitchFamily="18" charset="0"/>
              </a:rPr>
              <a:t>Allows JavaScript to be executed on the server.</a:t>
            </a:r>
          </a:p>
          <a:p>
            <a:pPr marL="342900" indent="-228600">
              <a:spcAft>
                <a:spcPts val="600"/>
              </a:spcAft>
              <a:buClr>
                <a:schemeClr val="accent1"/>
              </a:buClr>
              <a:buFont typeface="Arial" panose="020B0604020202020204" pitchFamily="34" charset="0"/>
              <a:buChar char="•"/>
            </a:pPr>
            <a:r>
              <a:rPr lang="en-US" sz="2200" dirty="0">
                <a:solidFill>
                  <a:schemeClr val="tx2"/>
                </a:solidFill>
                <a:latin typeface="Times New Roman" panose="02020603050405020304" pitchFamily="18" charset="0"/>
                <a:cs typeface="Times New Roman" panose="02020603050405020304" pitchFamily="18" charset="0"/>
              </a:rPr>
              <a:t> Role: Acts as the backend environment, handling </a:t>
            </a:r>
            <a:r>
              <a:rPr lang="en-US" sz="2200" dirty="0" err="1">
                <a:solidFill>
                  <a:schemeClr val="tx2"/>
                </a:solidFill>
                <a:latin typeface="Times New Roman" panose="02020603050405020304" pitchFamily="18" charset="0"/>
                <a:cs typeface="Times New Roman" panose="02020603050405020304" pitchFamily="18" charset="0"/>
              </a:rPr>
              <a:t>serverside</a:t>
            </a:r>
            <a:r>
              <a:rPr lang="en-US" sz="2200" dirty="0">
                <a:solidFill>
                  <a:schemeClr val="tx2"/>
                </a:solidFill>
                <a:latin typeface="Times New Roman" panose="02020603050405020304" pitchFamily="18" charset="0"/>
                <a:cs typeface="Times New Roman" panose="02020603050405020304" pitchFamily="18" charset="0"/>
              </a:rPr>
              <a:t> operations like managing APIs and interacting with the database.</a:t>
            </a:r>
          </a:p>
          <a:p>
            <a:pPr indent="-228600">
              <a:spcAft>
                <a:spcPts val="600"/>
              </a:spcAft>
              <a:buClr>
                <a:schemeClr val="accent1"/>
              </a:buClr>
              <a:buFont typeface="Arial" panose="020B0604020202020204" pitchFamily="34" charset="0"/>
              <a:buChar char="•"/>
            </a:pPr>
            <a:endParaRPr lang="en-US" sz="1100" dirty="0">
              <a:solidFill>
                <a:schemeClr val="tx2"/>
              </a:solidFill>
            </a:endParaRPr>
          </a:p>
          <a:p>
            <a:pPr>
              <a:spcAft>
                <a:spcPts val="600"/>
              </a:spcAft>
              <a:buClr>
                <a:schemeClr val="accent1"/>
              </a:buClr>
            </a:pPr>
            <a:endParaRPr lang="en-US" sz="1100" dirty="0">
              <a:solidFill>
                <a:schemeClr val="tx2"/>
              </a:solidFill>
            </a:endParaRPr>
          </a:p>
        </p:txBody>
      </p:sp>
      <p:sp>
        <p:nvSpPr>
          <p:cNvPr id="4111" name="Rectangle 4110">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13" name="Rectangle 4112">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23" name="Rectangle 4122">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196875" y="0"/>
            <a:ext cx="5992075"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MERN Stack in 2023. Is it still relevant? | by Tom Tech Talks | Level Up  Coding">
            <a:extLst>
              <a:ext uri="{FF2B5EF4-FFF2-40B4-BE49-F238E27FC236}">
                <a16:creationId xmlns:a16="http://schemas.microsoft.com/office/drawing/2014/main" id="{89DEC4F3-9456-8B90-CF21-6FCC551A3F7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46927" y="0"/>
            <a:ext cx="6045073" cy="6764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8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AA5CB-B843-9976-2910-67DEAA4F12AB}"/>
              </a:ext>
            </a:extLst>
          </p:cNvPr>
          <p:cNvSpPr>
            <a:spLocks noGrp="1"/>
          </p:cNvSpPr>
          <p:nvPr>
            <p:ph type="title"/>
          </p:nvPr>
        </p:nvSpPr>
        <p:spPr>
          <a:xfrm>
            <a:off x="0" y="365760"/>
            <a:ext cx="11353800" cy="1325563"/>
          </a:xfrm>
        </p:spPr>
        <p:txBody>
          <a:bodyPr/>
          <a:lstStyle/>
          <a:p>
            <a:pPr algn="ctr"/>
            <a:r>
              <a:rPr lang="en-US" dirty="0"/>
              <a:t>APIs</a:t>
            </a:r>
          </a:p>
        </p:txBody>
      </p:sp>
      <p:sp>
        <p:nvSpPr>
          <p:cNvPr id="4" name="TextBox 3">
            <a:extLst>
              <a:ext uri="{FF2B5EF4-FFF2-40B4-BE49-F238E27FC236}">
                <a16:creationId xmlns:a16="http://schemas.microsoft.com/office/drawing/2014/main" id="{F614E33E-246F-12D6-72E3-7BE960012D3D}"/>
              </a:ext>
            </a:extLst>
          </p:cNvPr>
          <p:cNvSpPr txBox="1"/>
          <p:nvPr/>
        </p:nvSpPr>
        <p:spPr>
          <a:xfrm>
            <a:off x="1" y="1691323"/>
            <a:ext cx="12192000" cy="6863417"/>
          </a:xfrm>
          <a:prstGeom prst="rect">
            <a:avLst/>
          </a:prstGeom>
          <a:noFill/>
        </p:spPr>
        <p:txBody>
          <a:bodyPr wrap="square">
            <a:spAutoFit/>
          </a:bodyPr>
          <a:lstStyle/>
          <a:p>
            <a:pPr>
              <a:buFont typeface="Arial" panose="020B0604020202020204" pitchFamily="34" charset="0"/>
              <a:buChar char="•"/>
            </a:pPr>
            <a:r>
              <a:rPr lang="en-US" sz="2200" b="1" dirty="0">
                <a:solidFill>
                  <a:schemeClr val="bg1"/>
                </a:solidFill>
                <a:latin typeface="Times New Roman" panose="02020603050405020304" pitchFamily="18" charset="0"/>
                <a:cs typeface="Times New Roman" panose="02020603050405020304" pitchFamily="18" charset="0"/>
              </a:rPr>
              <a:t>API</a:t>
            </a:r>
            <a:r>
              <a:rPr lang="en-US" sz="2200" dirty="0">
                <a:solidFill>
                  <a:schemeClr val="bg1"/>
                </a:solidFill>
                <a:latin typeface="Times New Roman" panose="02020603050405020304" pitchFamily="18" charset="0"/>
                <a:cs typeface="Times New Roman" panose="02020603050405020304" pitchFamily="18" charset="0"/>
              </a:rPr>
              <a:t>: An </a:t>
            </a:r>
            <a:r>
              <a:rPr lang="en-US" sz="2200" b="1" dirty="0">
                <a:solidFill>
                  <a:schemeClr val="bg1"/>
                </a:solidFill>
                <a:latin typeface="Times New Roman" panose="02020603050405020304" pitchFamily="18" charset="0"/>
                <a:cs typeface="Times New Roman" panose="02020603050405020304" pitchFamily="18" charset="0"/>
              </a:rPr>
              <a:t>Application Programming Interface</a:t>
            </a:r>
            <a:r>
              <a:rPr lang="en-US" sz="2200" dirty="0">
                <a:solidFill>
                  <a:schemeClr val="bg1"/>
                </a:solidFill>
                <a:latin typeface="Times New Roman" panose="02020603050405020304" pitchFamily="18" charset="0"/>
                <a:cs typeface="Times New Roman" panose="02020603050405020304" pitchFamily="18" charset="0"/>
              </a:rPr>
              <a:t> is a set of rules that allows different software applications to communicate with each other.</a:t>
            </a:r>
          </a:p>
          <a:p>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200" b="1" dirty="0">
                <a:solidFill>
                  <a:schemeClr val="bg1"/>
                </a:solidFill>
                <a:latin typeface="Times New Roman" panose="02020603050405020304" pitchFamily="18" charset="0"/>
                <a:cs typeface="Times New Roman" panose="02020603050405020304" pitchFamily="18" charset="0"/>
              </a:rPr>
              <a:t>Role in MERN Stack</a:t>
            </a:r>
            <a:r>
              <a:rPr lang="en-US" sz="2200" dirty="0">
                <a:solidFill>
                  <a:schemeClr val="bg1"/>
                </a:solidFill>
                <a:latin typeface="Times New Roman" panose="02020603050405020304" pitchFamily="18" charset="0"/>
                <a:cs typeface="Times New Roman" panose="02020603050405020304" pitchFamily="18" charset="0"/>
              </a:rPr>
              <a:t>: APIs are essential for connecting the frontend (React) with the backend (Node.js and Express.js), allowing data to flow between them.</a:t>
            </a:r>
          </a:p>
          <a:p>
            <a:pPr lvl="1"/>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200" b="1" dirty="0">
                <a:solidFill>
                  <a:schemeClr val="bg1"/>
                </a:solidFill>
                <a:latin typeface="Times New Roman" panose="02020603050405020304" pitchFamily="18" charset="0"/>
                <a:cs typeface="Times New Roman" panose="02020603050405020304" pitchFamily="18" charset="0"/>
              </a:rPr>
              <a:t>RESTful APIs</a:t>
            </a:r>
            <a:r>
              <a:rPr lang="en-US" sz="2200" dirty="0">
                <a:solidFill>
                  <a:schemeClr val="bg1"/>
                </a:solidFill>
                <a:latin typeface="Times New Roman" panose="02020603050405020304" pitchFamily="18" charset="0"/>
                <a:cs typeface="Times New Roman" panose="02020603050405020304" pitchFamily="18" charset="0"/>
              </a:rPr>
              <a:t>: A common type of API used in web development, where resources (data) are accessed through HTTP requests (GET, POST, PUT, DELETE).</a:t>
            </a:r>
          </a:p>
          <a:p>
            <a:pPr marL="742950" lvl="1" indent="-285750">
              <a:buFont typeface="Arial" panose="020B0604020202020204" pitchFamily="34" charset="0"/>
              <a:buChar char="•"/>
            </a:pPr>
            <a:r>
              <a:rPr lang="en-US" sz="18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REST (Representational State Transfer)</a:t>
            </a:r>
            <a:endParaRPr lang="en-US" sz="2200" dirty="0">
              <a:solidFill>
                <a:schemeClr val="bg1"/>
              </a:solidFill>
              <a:latin typeface="Times New Roman" panose="02020603050405020304" pitchFamily="18" charset="0"/>
              <a:cs typeface="Times New Roman" panose="02020603050405020304" pitchFamily="18" charset="0"/>
            </a:endParaRPr>
          </a:p>
          <a:p>
            <a:pPr lvl="1"/>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200" b="1" dirty="0">
                <a:solidFill>
                  <a:schemeClr val="bg1"/>
                </a:solidFill>
                <a:latin typeface="Times New Roman" panose="02020603050405020304" pitchFamily="18" charset="0"/>
                <a:cs typeface="Times New Roman" panose="02020603050405020304" pitchFamily="18" charset="0"/>
              </a:rPr>
              <a:t>JSON Format</a:t>
            </a:r>
            <a:r>
              <a:rPr lang="en-US" sz="2200" dirty="0">
                <a:solidFill>
                  <a:schemeClr val="bg1"/>
                </a:solidFill>
                <a:latin typeface="Times New Roman" panose="02020603050405020304" pitchFamily="18" charset="0"/>
                <a:cs typeface="Times New Roman" panose="02020603050405020304" pitchFamily="18" charset="0"/>
              </a:rPr>
              <a:t>: Data is typically exchanged in </a:t>
            </a:r>
            <a:r>
              <a:rPr lang="en-US" sz="2200" b="1" dirty="0">
                <a:solidFill>
                  <a:schemeClr val="bg1"/>
                </a:solidFill>
                <a:latin typeface="Times New Roman" panose="02020603050405020304" pitchFamily="18" charset="0"/>
                <a:cs typeface="Times New Roman" panose="02020603050405020304" pitchFamily="18" charset="0"/>
              </a:rPr>
              <a:t>JSON format</a:t>
            </a:r>
            <a:r>
              <a:rPr lang="en-US" sz="2200" dirty="0">
                <a:solidFill>
                  <a:schemeClr val="bg1"/>
                </a:solidFill>
                <a:latin typeface="Times New Roman" panose="02020603050405020304" pitchFamily="18" charset="0"/>
                <a:cs typeface="Times New Roman" panose="02020603050405020304" pitchFamily="18" charset="0"/>
              </a:rPr>
              <a:t>, which works well with both MongoDB and JavaScript.</a:t>
            </a:r>
          </a:p>
          <a:p>
            <a:pPr lvl="1"/>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200" b="1" dirty="0">
                <a:solidFill>
                  <a:schemeClr val="bg1"/>
                </a:solidFill>
                <a:latin typeface="Times New Roman" panose="02020603050405020304" pitchFamily="18" charset="0"/>
                <a:cs typeface="Times New Roman" panose="02020603050405020304" pitchFamily="18" charset="0"/>
              </a:rPr>
              <a:t>Usage in Projects</a:t>
            </a:r>
            <a:r>
              <a:rPr lang="en-US" sz="2200" dirty="0">
                <a:solidFill>
                  <a:schemeClr val="bg1"/>
                </a:solidFill>
                <a:latin typeface="Times New Roman" panose="02020603050405020304" pitchFamily="18" charset="0"/>
                <a:cs typeface="Times New Roman" panose="02020603050405020304" pitchFamily="18" charset="0"/>
              </a:rPr>
              <a:t>: APIs allow you to integrate external services, such as payment gateways, authentication systems, and third-party APIs, to enhance the functionality of web applications.</a:t>
            </a:r>
          </a:p>
          <a:p>
            <a:pPr marL="742950" lvl="1" indent="-28575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sz="2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5485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E675D34-1296-BC36-9B5B-9B3CA7043EAC}"/>
              </a:ext>
            </a:extLst>
          </p:cNvPr>
          <p:cNvSpPr>
            <a:spLocks noGrp="1" noChangeArrowheads="1"/>
          </p:cNvSpPr>
          <p:nvPr>
            <p:ph type="title"/>
          </p:nvPr>
        </p:nvSpPr>
        <p:spPr bwMode="auto">
          <a:xfrm>
            <a:off x="157316" y="733247"/>
            <a:ext cx="11877368" cy="6278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Arial" panose="020B0604020202020204" pitchFamily="34" charset="0"/>
              <a:buChar char="•"/>
            </a:pPr>
            <a:r>
              <a:rPr kumimoji="0" lang="en-US" altLang="en-US" sz="2000" b="0" i="0" u="none" strike="noStrike" cap="none" normalizeH="0" baseline="0" dirty="0">
                <a:ln>
                  <a:noFill/>
                </a:ln>
                <a:effectLst/>
                <a:latin typeface="Arial" panose="020B0604020202020204" pitchFamily="34" charset="0"/>
              </a:rPr>
              <a:t>Use the command: </a:t>
            </a:r>
            <a:r>
              <a:rPr kumimoji="0" lang="en-US" altLang="en-US" sz="2000" b="0" i="0" u="none" strike="noStrike" cap="none" normalizeH="0" baseline="0" dirty="0" err="1">
                <a:ln>
                  <a:noFill/>
                </a:ln>
                <a:effectLst/>
                <a:latin typeface="Arial Unicode MS"/>
              </a:rPr>
              <a:t>npm</a:t>
            </a:r>
            <a:r>
              <a:rPr kumimoji="0" lang="en-US" altLang="en-US" sz="2000" b="0" i="0" u="none" strike="noStrike" cap="none" normalizeH="0" baseline="0" dirty="0">
                <a:ln>
                  <a:noFill/>
                </a:ln>
                <a:effectLst/>
                <a:latin typeface="Arial Unicode MS"/>
              </a:rPr>
              <a:t> create </a:t>
            </a:r>
            <a:r>
              <a:rPr kumimoji="0" lang="en-US" altLang="en-US" sz="2000" b="0" i="0" u="none" strike="noStrike" cap="none" normalizeH="0" baseline="0" dirty="0" err="1">
                <a:ln>
                  <a:noFill/>
                </a:ln>
                <a:effectLst/>
                <a:latin typeface="Arial Unicode MS"/>
              </a:rPr>
              <a:t>vite</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What is </a:t>
            </a:r>
            <a:r>
              <a:rPr kumimoji="0" lang="en-US" altLang="en-US" sz="2000" b="0" i="0" u="none" strike="noStrike" cap="none" normalizeH="0" baseline="0" dirty="0" err="1">
                <a:ln>
                  <a:noFill/>
                </a:ln>
                <a:effectLst/>
                <a:latin typeface="Arial Unicode MS"/>
              </a:rPr>
              <a:t>Vite</a:t>
            </a:r>
            <a:r>
              <a:rPr kumimoji="0" lang="en-US" altLang="en-US" sz="2000" b="0" i="0" u="none" strike="noStrike" cap="none" normalizeH="0" baseline="0" dirty="0">
                <a:ln>
                  <a:noFill/>
                </a:ln>
                <a:effectLst/>
                <a:latin typeface="Arial Unicode MS"/>
              </a:rPr>
              <a:t>?</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err="1">
                <a:ln>
                  <a:noFill/>
                </a:ln>
                <a:effectLst/>
                <a:latin typeface="Arial Unicode MS"/>
              </a:rPr>
              <a:t>Vite</a:t>
            </a:r>
            <a:r>
              <a:rPr kumimoji="0" lang="en-US" altLang="en-US" sz="2000" b="0" i="0" u="none" strike="noStrike" cap="none" normalizeH="0" baseline="0" dirty="0">
                <a:ln>
                  <a:noFill/>
                </a:ln>
                <a:effectLst/>
                <a:latin typeface="Arial Unicode MS"/>
              </a:rPr>
              <a:t> is a project builder and development tool that allows for faster web development.</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It is designed for modern front-end frameworks like React, Vue, etc.</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Advantages of </a:t>
            </a:r>
            <a:r>
              <a:rPr kumimoji="0" lang="en-US" altLang="en-US" sz="2000" b="0" i="0" u="none" strike="noStrike" cap="none" normalizeH="0" baseline="0" dirty="0" err="1">
                <a:ln>
                  <a:noFill/>
                </a:ln>
                <a:effectLst/>
                <a:latin typeface="Arial Unicode MS"/>
              </a:rPr>
              <a:t>Vite</a:t>
            </a:r>
            <a:r>
              <a:rPr kumimoji="0" lang="en-US" altLang="en-US" sz="2000" b="0" i="0" u="none" strike="noStrike" cap="none" normalizeH="0" baseline="0" dirty="0">
                <a:ln>
                  <a:noFill/>
                </a:ln>
                <a:effectLst/>
                <a:latin typeface="Arial Unicode MS"/>
              </a:rPr>
              <a:t>:</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Lazy Loading: </a:t>
            </a:r>
            <a:r>
              <a:rPr kumimoji="0" lang="en-US" altLang="en-US" sz="2000" b="0" i="0" u="none" strike="noStrike" cap="none" normalizeH="0" baseline="0" dirty="0" err="1">
                <a:ln>
                  <a:noFill/>
                </a:ln>
                <a:effectLst/>
                <a:latin typeface="Arial Unicode MS"/>
              </a:rPr>
              <a:t>Vite</a:t>
            </a:r>
            <a:r>
              <a:rPr kumimoji="0" lang="en-US" altLang="en-US" sz="2000" b="0" i="0" u="none" strike="noStrike" cap="none" normalizeH="0" baseline="0" dirty="0">
                <a:ln>
                  <a:noFill/>
                </a:ln>
                <a:effectLst/>
                <a:latin typeface="Arial Unicode MS"/>
              </a:rPr>
              <a:t> only loads the components that are necessary, improving performance. This means that it only fetches what’s needed at the moment, ensuring faster load times.</a:t>
            </a:r>
            <a:br>
              <a:rPr kumimoji="0" lang="en-US" altLang="en-US" sz="2000" b="0" i="0" u="none" strike="noStrike" cap="none" normalizeH="0" baseline="0" dirty="0">
                <a:ln>
                  <a:noFill/>
                </a:ln>
                <a:effectLst/>
                <a:latin typeface="Arial Unicode MS"/>
              </a:rPr>
            </a:br>
            <a:br>
              <a:rPr kumimoji="0" lang="en-US" altLang="en-US" sz="2000" b="0" i="0" u="none" strike="noStrike" cap="none" normalizeH="0" baseline="0" dirty="0">
                <a:ln>
                  <a:noFill/>
                </a:ln>
                <a:effectLst/>
                <a:latin typeface="Arial Unicode MS"/>
              </a:rPr>
            </a:br>
            <a:r>
              <a:rPr lang="en-US" sz="2000" b="0" dirty="0">
                <a:solidFill>
                  <a:schemeClr val="bg1"/>
                </a:solidFill>
              </a:rPr>
              <a:t>In terminal   </a:t>
            </a:r>
            <a:r>
              <a:rPr lang="en-US" sz="2000" b="0" dirty="0" err="1">
                <a:solidFill>
                  <a:schemeClr val="bg1"/>
                </a:solidFill>
              </a:rPr>
              <a:t>npm</a:t>
            </a:r>
            <a:r>
              <a:rPr lang="en-US" sz="2000" b="0" dirty="0">
                <a:solidFill>
                  <a:schemeClr val="bg1"/>
                </a:solidFill>
              </a:rPr>
              <a:t> create </a:t>
            </a:r>
            <a:r>
              <a:rPr lang="en-US" sz="2000" b="0" dirty="0" err="1">
                <a:solidFill>
                  <a:schemeClr val="bg1"/>
                </a:solidFill>
              </a:rPr>
              <a:t>vite</a:t>
            </a:r>
            <a:r>
              <a:rPr lang="en-US" sz="2000" b="0" dirty="0">
                <a:solidFill>
                  <a:schemeClr val="bg1"/>
                </a:solidFill>
              </a:rPr>
              <a:t>(</a:t>
            </a:r>
            <a:r>
              <a:rPr lang="en-US" sz="2000" b="0" i="0" dirty="0">
                <a:solidFill>
                  <a:schemeClr val="bg1"/>
                </a:solidFill>
                <a:effectLst/>
                <a:latin typeface="Google Sans"/>
              </a:rPr>
              <a:t>What is NPM? NPM is a node package manager for Node.js packages, or modules )</a:t>
            </a:r>
            <a:br>
              <a:rPr lang="en-US" sz="2000" b="0" dirty="0">
                <a:solidFill>
                  <a:schemeClr val="bg1"/>
                </a:solidFill>
              </a:rPr>
            </a:br>
            <a:r>
              <a:rPr lang="en-US" sz="2000" b="0" dirty="0">
                <a:solidFill>
                  <a:schemeClr val="bg1"/>
                </a:solidFill>
              </a:rPr>
              <a:t>                           project name</a:t>
            </a:r>
            <a:br>
              <a:rPr lang="en-US" sz="2000" b="0" dirty="0">
                <a:solidFill>
                  <a:schemeClr val="bg1"/>
                </a:solidFill>
              </a:rPr>
            </a:br>
            <a:r>
              <a:rPr lang="en-US" sz="2000" b="0" dirty="0">
                <a:solidFill>
                  <a:schemeClr val="bg1"/>
                </a:solidFill>
              </a:rPr>
              <a:t>                           selecting framework  react</a:t>
            </a:r>
            <a:br>
              <a:rPr lang="en-US" sz="2000" b="0" dirty="0">
                <a:solidFill>
                  <a:schemeClr val="bg1"/>
                </a:solidFill>
              </a:rPr>
            </a:br>
            <a:r>
              <a:rPr lang="en-US" sz="2000" b="0" dirty="0">
                <a:solidFill>
                  <a:schemeClr val="bg1"/>
                </a:solidFill>
              </a:rPr>
              <a:t>                           variant--</a:t>
            </a:r>
            <a:r>
              <a:rPr lang="en-US" sz="2000" b="0" dirty="0" err="1">
                <a:solidFill>
                  <a:schemeClr val="bg1"/>
                </a:solidFill>
              </a:rPr>
              <a:t>javascript</a:t>
            </a:r>
            <a:br>
              <a:rPr kumimoji="0" lang="en-US" altLang="en-US" sz="2000" i="0" u="none" strike="noStrike" cap="none" normalizeH="0" baseline="0" dirty="0">
                <a:ln>
                  <a:noFill/>
                </a:ln>
                <a:effectLst/>
                <a:latin typeface="Arial Unicode MS"/>
              </a:rPr>
            </a:br>
            <a:r>
              <a:rPr kumimoji="0" lang="en-US" altLang="en-US" sz="2000" i="0" u="none" strike="noStrike" cap="none" normalizeH="0" baseline="0" dirty="0">
                <a:ln>
                  <a:noFill/>
                </a:ln>
                <a:effectLst/>
                <a:latin typeface="Arial Unicode MS"/>
              </a:rPr>
              <a:t>Understanding </a:t>
            </a:r>
            <a:r>
              <a:rPr kumimoji="0" lang="en-US" altLang="en-US" sz="2000" i="0" u="none" strike="noStrike" cap="none" normalizeH="0" baseline="0" dirty="0" err="1">
                <a:ln>
                  <a:noFill/>
                </a:ln>
                <a:effectLst/>
                <a:latin typeface="Arial Unicode MS"/>
              </a:rPr>
              <a:t>package.json</a:t>
            </a:r>
            <a:r>
              <a:rPr kumimoji="0" lang="en-US" altLang="en-US" sz="2000" i="0" u="none" strike="noStrike" cap="none" normalizeH="0" baseline="0" dirty="0">
                <a:ln>
                  <a:noFill/>
                </a:ln>
                <a:effectLst/>
                <a:latin typeface="Arial Unicode MS"/>
              </a:rPr>
              <a:t>:</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The </a:t>
            </a:r>
            <a:r>
              <a:rPr kumimoji="0" lang="en-US" altLang="en-US" sz="2000" b="0" i="0" u="none" strike="noStrike" cap="none" normalizeH="0" baseline="0" dirty="0" err="1">
                <a:ln>
                  <a:noFill/>
                </a:ln>
                <a:effectLst/>
                <a:latin typeface="Arial Unicode MS"/>
              </a:rPr>
              <a:t>package.json</a:t>
            </a:r>
            <a:r>
              <a:rPr kumimoji="0" lang="en-US" altLang="en-US" sz="2000" b="0" i="0" u="none" strike="noStrike" cap="none" normalizeH="0" baseline="0" dirty="0">
                <a:ln>
                  <a:noFill/>
                </a:ln>
                <a:effectLst/>
                <a:latin typeface="Arial Unicode MS"/>
              </a:rPr>
              <a:t> file contains:</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Dependencies: Lists all the libraries and packages that the project depends on.</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Project Metadata: Includes details like the project name, version, description, etc.</a:t>
            </a:r>
            <a:br>
              <a:rPr kumimoji="0" lang="en-US" altLang="en-US" sz="2000" b="0" i="0" u="none" strike="noStrike" cap="none" normalizeH="0" baseline="0" dirty="0">
                <a:ln>
                  <a:noFill/>
                </a:ln>
                <a:effectLst/>
                <a:latin typeface="Arial Unicode MS"/>
              </a:rPr>
            </a:br>
            <a:r>
              <a:rPr kumimoji="0" lang="en-US" altLang="en-US" sz="2000" b="0" i="0" u="none" strike="noStrike" cap="none" normalizeH="0" baseline="0" dirty="0">
                <a:ln>
                  <a:noFill/>
                </a:ln>
                <a:effectLst/>
                <a:latin typeface="Arial Unicode MS"/>
              </a:rPr>
              <a:t>Version Flexibility: For example, if the dependency version is listed as 1.2.3, you can install versions up to 1.3.0.</a:t>
            </a:r>
            <a:br>
              <a:rPr kumimoji="0" lang="en-US" altLang="en-US" sz="2000" b="0" i="0" u="none" strike="noStrike" cap="none" normalizeH="0" baseline="0" dirty="0">
                <a:ln>
                  <a:noFill/>
                </a:ln>
                <a:effectLst/>
                <a:latin typeface="Arial Unicode MS"/>
              </a:rPr>
            </a:br>
            <a:endParaRPr kumimoji="0" lang="en-US" altLang="en-US" sz="2200" b="0" i="0" u="none" strike="noStrike" cap="none" normalizeH="0" baseline="0" dirty="0">
              <a:ln>
                <a:noFill/>
              </a:ln>
              <a:effectLst/>
            </a:endParaRPr>
          </a:p>
        </p:txBody>
      </p:sp>
      <p:sp>
        <p:nvSpPr>
          <p:cNvPr id="5" name="TextBox 4">
            <a:extLst>
              <a:ext uri="{FF2B5EF4-FFF2-40B4-BE49-F238E27FC236}">
                <a16:creationId xmlns:a16="http://schemas.microsoft.com/office/drawing/2014/main" id="{E178FFFE-AD2D-36C9-05C7-FEF503028BAF}"/>
              </a:ext>
            </a:extLst>
          </p:cNvPr>
          <p:cNvSpPr txBox="1"/>
          <p:nvPr/>
        </p:nvSpPr>
        <p:spPr>
          <a:xfrm>
            <a:off x="993058" y="167059"/>
            <a:ext cx="10264877" cy="523220"/>
          </a:xfrm>
          <a:prstGeom prst="rect">
            <a:avLst/>
          </a:prstGeom>
          <a:noFill/>
        </p:spPr>
        <p:txBody>
          <a:bodyPr wrap="square">
            <a:spAutoFit/>
          </a:bodyPr>
          <a:lstStyle/>
          <a:p>
            <a:pPr algn="ctr"/>
            <a:r>
              <a:rPr lang="en-US" altLang="en-US" sz="2800" b="1" dirty="0">
                <a:solidFill>
                  <a:schemeClr val="bg1"/>
                </a:solidFill>
              </a:rPr>
              <a:t>Command to Create a React Project</a:t>
            </a:r>
            <a:endParaRPr lang="en-US" sz="2800" b="1" dirty="0">
              <a:solidFill>
                <a:schemeClr val="bg1"/>
              </a:solidFill>
            </a:endParaRPr>
          </a:p>
        </p:txBody>
      </p:sp>
    </p:spTree>
    <p:extLst>
      <p:ext uri="{BB962C8B-B14F-4D97-AF65-F5344CB8AC3E}">
        <p14:creationId xmlns:p14="http://schemas.microsoft.com/office/powerpoint/2010/main" val="147421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C7493F5-244D-0E0C-FBEB-870D114A4A0B}"/>
              </a:ext>
            </a:extLst>
          </p:cNvPr>
          <p:cNvSpPr>
            <a:spLocks noGrp="1" noChangeArrowheads="1"/>
          </p:cNvSpPr>
          <p:nvPr>
            <p:ph type="title"/>
          </p:nvPr>
        </p:nvSpPr>
        <p:spPr bwMode="auto">
          <a:xfrm>
            <a:off x="0" y="671027"/>
            <a:ext cx="11897361"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Arial" panose="020B0604020202020204" pitchFamily="34" charset="0"/>
              </a:rPr>
              <a:t>Understanding </a:t>
            </a:r>
            <a:r>
              <a:rPr kumimoji="0" lang="en-US" altLang="en-US" sz="2200" b="1" i="0" u="none" strike="noStrike" cap="none" normalizeH="0" baseline="0" dirty="0">
                <a:ln>
                  <a:noFill/>
                </a:ln>
                <a:effectLst/>
                <a:latin typeface="Arial Unicode MS"/>
              </a:rPr>
              <a:t>package-</a:t>
            </a:r>
            <a:r>
              <a:rPr kumimoji="0" lang="en-US" altLang="en-US" sz="2200" b="1" i="0" u="none" strike="noStrike" cap="none" normalizeH="0" baseline="0" dirty="0" err="1">
                <a:ln>
                  <a:noFill/>
                </a:ln>
                <a:effectLst/>
                <a:latin typeface="Arial Unicode MS"/>
              </a:rPr>
              <a:t>lock.json</a:t>
            </a:r>
            <a:r>
              <a:rPr kumimoji="0" lang="en-US" altLang="en-US" sz="2200" b="1" i="0" u="none" strike="noStrike" cap="none" normalizeH="0" baseline="0" dirty="0">
                <a:ln>
                  <a:noFill/>
                </a:ln>
                <a:effectLst/>
              </a:rPr>
              <a:t>:</a:t>
            </a:r>
            <a:br>
              <a:rPr kumimoji="0" lang="en-US" altLang="en-US" sz="2200" b="1" i="0" u="none" strike="noStrike" cap="none" normalizeH="0" baseline="0" dirty="0">
                <a:ln>
                  <a:noFill/>
                </a:ln>
                <a:effectLst/>
              </a:rPr>
            </a:br>
            <a:endParaRPr kumimoji="0" lang="en-US" altLang="en-US" sz="2200" b="1" i="0" u="none"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Exact Version Control</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 It guarantees that the project will use the exact same versions of the dependencies listed.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effectLst/>
                <a:latin typeface="Times New Roman" panose="02020603050405020304" pitchFamily="18" charset="0"/>
                <a:cs typeface="Times New Roman" panose="02020603050405020304" pitchFamily="18" charset="0"/>
              </a:rPr>
              <a:t>Exact Data</a:t>
            </a:r>
            <a:r>
              <a:rPr kumimoji="0" lang="en-US" altLang="en-US" sz="1800" b="0" i="0" u="none" strike="noStrike" cap="none" normalizeH="0" baseline="0" dirty="0">
                <a:ln>
                  <a:noFill/>
                </a:ln>
                <a:effectLst/>
                <a:latin typeface="Arial" panose="020B0604020202020204" pitchFamily="34" charset="0"/>
              </a:rPr>
              <a:t>: </a:t>
            </a:r>
            <a: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t>This file locks the exact version of each installed dependency, ensuring the same versions are installed whenever the project is set up again.</a:t>
            </a:r>
            <a:br>
              <a:rPr kumimoji="0" lang="en-US" altLang="en-US" sz="2200" b="0" i="0" u="none" strike="noStrike" cap="none" normalizeH="0" baseline="0" dirty="0">
                <a:ln>
                  <a:noFill/>
                </a:ln>
                <a:effectLst/>
                <a:latin typeface="Times New Roman" panose="02020603050405020304" pitchFamily="18" charset="0"/>
                <a:cs typeface="Times New Roman" panose="02020603050405020304" pitchFamily="18" charset="0"/>
              </a:rPr>
            </a:b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802537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CC0375-F29D-201A-E53A-F13D23CD990B}"/>
              </a:ext>
            </a:extLst>
          </p:cNvPr>
          <p:cNvSpPr/>
          <p:nvPr/>
        </p:nvSpPr>
        <p:spPr>
          <a:xfrm>
            <a:off x="114300" y="1839191"/>
            <a:ext cx="11315700" cy="2215991"/>
          </a:xfrm>
          <a:prstGeom prst="rect">
            <a:avLst/>
          </a:prstGeom>
          <a:noFill/>
        </p:spPr>
        <p:txBody>
          <a:bodyPr wrap="square" lIns="91440" tIns="45720" rIns="91440" bIns="45720">
            <a:spAutoFit/>
          </a:bodyPr>
          <a:lstStyle/>
          <a:p>
            <a:pPr algn="ctr"/>
            <a:r>
              <a:rPr lang="en-US" sz="13800" b="1" cap="none" spc="0" dirty="0">
                <a:ln w="9525">
                  <a:solidFill>
                    <a:schemeClr val="bg1"/>
                  </a:solidFill>
                  <a:prstDash val="solid"/>
                </a:ln>
                <a:solidFill>
                  <a:schemeClr val="bg1"/>
                </a:solidFill>
                <a:effectLst>
                  <a:outerShdw blurRad="12700" dist="38100" dir="2700000" algn="tl" rotWithShape="0">
                    <a:schemeClr val="accent5">
                      <a:lumMod val="60000"/>
                      <a:lumOff val="40000"/>
                    </a:schemeClr>
                  </a:outerShdw>
                </a:effectLst>
                <a:latin typeface="Cascadia Code Light" panose="020B0609020000020004" pitchFamily="49" charset="0"/>
                <a:ea typeface="Cascadia Code Light" panose="020B0609020000020004" pitchFamily="49" charset="0"/>
                <a:cs typeface="Cascadia Code Light" panose="020B0609020000020004" pitchFamily="49" charset="0"/>
              </a:rPr>
              <a:t>THANK YOU</a:t>
            </a:r>
          </a:p>
        </p:txBody>
      </p:sp>
    </p:spTree>
    <p:extLst>
      <p:ext uri="{BB962C8B-B14F-4D97-AF65-F5344CB8AC3E}">
        <p14:creationId xmlns:p14="http://schemas.microsoft.com/office/powerpoint/2010/main" val="829295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BlockprintVTI">
  <a:themeElements>
    <a:clrScheme name="AnalogousFromDarkSeedLeftStep">
      <a:dk1>
        <a:srgbClr val="000000"/>
      </a:dk1>
      <a:lt1>
        <a:srgbClr val="FFFFFF"/>
      </a:lt1>
      <a:dk2>
        <a:srgbClr val="1A1634"/>
      </a:dk2>
      <a:lt2>
        <a:srgbClr val="F0F3F3"/>
      </a:lt2>
      <a:accent1>
        <a:srgbClr val="E72950"/>
      </a:accent1>
      <a:accent2>
        <a:srgbClr val="D5178E"/>
      </a:accent2>
      <a:accent3>
        <a:srgbClr val="DF29E7"/>
      </a:accent3>
      <a:accent4>
        <a:srgbClr val="7E17D5"/>
      </a:accent4>
      <a:accent5>
        <a:srgbClr val="4129E7"/>
      </a:accent5>
      <a:accent6>
        <a:srgbClr val="174ED5"/>
      </a:accent6>
      <a:hlink>
        <a:srgbClr val="7351C5"/>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docProps/app.xml><?xml version="1.0" encoding="utf-8"?>
<Properties xmlns="http://schemas.openxmlformats.org/officeDocument/2006/extended-properties" xmlns:vt="http://schemas.openxmlformats.org/officeDocument/2006/docPropsVTypes">
  <TotalTime>538</TotalTime>
  <Words>1332</Words>
  <Application>Microsoft Office PowerPoint</Application>
  <PresentationFormat>Widescreen</PresentationFormat>
  <Paragraphs>99</Paragraphs>
  <Slides>16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Akzidenz Grotesk BQ Light</vt:lpstr>
      <vt:lpstr>Aptos</vt:lpstr>
      <vt:lpstr>Arial</vt:lpstr>
      <vt:lpstr>Arial Unicode MS</vt:lpstr>
      <vt:lpstr>Avenir Next LT Pro</vt:lpstr>
      <vt:lpstr>AvenirNext LT Pro Medium</vt:lpstr>
      <vt:lpstr>Cascadia Code Light</vt:lpstr>
      <vt:lpstr>Euclid Circular A</vt:lpstr>
      <vt:lpstr>Google Sans</vt:lpstr>
      <vt:lpstr>Times New Roman</vt:lpstr>
      <vt:lpstr>BlockprintVTI</vt:lpstr>
      <vt:lpstr>FULL STACK DEVELOPMENT USING MERN STACK</vt:lpstr>
      <vt:lpstr>PowerPoint Presentation</vt:lpstr>
      <vt:lpstr>PowerPoint Presentation</vt:lpstr>
      <vt:lpstr>Why did I choose Mern for Summer Training as a data science student….</vt:lpstr>
      <vt:lpstr>Full Stack Development</vt:lpstr>
      <vt:lpstr>The front end: Crafting engaging user interfaces </vt:lpstr>
      <vt:lpstr>The back end: Powering the application's core </vt:lpstr>
      <vt:lpstr>PowerPoint Presentation</vt:lpstr>
      <vt:lpstr>TIC-TAC-TOE</vt:lpstr>
      <vt:lpstr>Tech STACK</vt:lpstr>
      <vt:lpstr>MERN Stack </vt:lpstr>
      <vt:lpstr>PowerPoint Presentation</vt:lpstr>
      <vt:lpstr>APIs</vt:lpstr>
      <vt:lpstr>Use the command: npm create vite What is Vite? Vite is a project builder and development tool that allows for faster web development. It is designed for modern front-end frameworks like React, Vue, etc. Advantages of Vite: Lazy Loading: Vite only loads the components that are necessary, improving performance. This means that it only fetches what’s needed at the moment, ensuring faster load times.  In terminal   npm create vite(What is NPM? NPM is a node package manager for Node.js packages, or modules )                            project name                            selecting framework  react                            variant--javascript Understanding package.json: The package.json file contains: Dependencies: Lists all the libraries and packages that the project depends on. Project Metadata: Includes details like the project name, version, description, etc. Version Flexibility: For example, if the dependency version is listed as 1.2.3, you can install versions up to 1.3.0. </vt:lpstr>
      <vt:lpstr>Understanding package-lock.json:  Exact Version Control: It guarantees that the project will use the exact same versions of the dependencies listed. Exact Data: This file locks the exact version of each installed dependency, ensuring the same versions are installed whenever the project is set up again.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Sanvi Ojha</dc:creator>
  <cp:lastModifiedBy>Sanvi Ojha</cp:lastModifiedBy>
  <cp:revision>6</cp:revision>
  <dcterms:created xsi:type="dcterms:W3CDTF">2024-10-01T03:25:40Z</dcterms:created>
  <dcterms:modified xsi:type="dcterms:W3CDTF">2024-10-02T09:48:01Z</dcterms:modified>
</cp:coreProperties>
</file>